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PT Sans Narrow"/>
      <p:regular r:id="rId16"/>
      <p:bold r:id="rId17"/>
    </p:embeddedFont>
    <p:embeddedFont>
      <p:font typeface="Open Sans"/>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italic.fntdata"/><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font" Target="fonts/OpenSans-bold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PTSansNarrow-bold.fntdata"/><Relationship Id="rId16" Type="http://schemas.openxmlformats.org/officeDocument/2006/relationships/font" Target="fonts/PTSansNarrow-regular.fntdata"/><Relationship Id="rId5" Type="http://schemas.openxmlformats.org/officeDocument/2006/relationships/slideMaster" Target="slideMasters/slideMaster2.xml"/><Relationship Id="rId19" Type="http://schemas.openxmlformats.org/officeDocument/2006/relationships/font" Target="fonts/OpenSans-bold.fntdata"/><Relationship Id="rId6" Type="http://schemas.openxmlformats.org/officeDocument/2006/relationships/notesMaster" Target="notesMasters/notesMaster1.xml"/><Relationship Id="rId18" Type="http://schemas.openxmlformats.org/officeDocument/2006/relationships/font" Target="fonts/OpenSans-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s.ryerson.ca/~aharley/vis/fc/"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ef84af216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ef84af216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acc24928cd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acc24928c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acc24928c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acc24928c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t>Este es un ejemplo de una </a:t>
            </a:r>
            <a:r>
              <a:rPr b="1" lang="es-419"/>
              <a:t>red neuronal feedforward multicapa</a:t>
            </a:r>
            <a:r>
              <a:rPr lang="es-419"/>
              <a:t>, el primer modelo ideado y a su vez el más simple. </a:t>
            </a:r>
            <a:endParaRPr/>
          </a:p>
          <a:p>
            <a:pPr indent="-298450" lvl="0" marL="457200" rtl="0" algn="just">
              <a:lnSpc>
                <a:spcPct val="115000"/>
              </a:lnSpc>
              <a:spcBef>
                <a:spcPts val="0"/>
              </a:spcBef>
              <a:spcAft>
                <a:spcPts val="0"/>
              </a:spcAft>
              <a:buSzPts val="1100"/>
              <a:buChar char="-"/>
            </a:pPr>
            <a:r>
              <a:rPr lang="es-419"/>
              <a:t>Contiene múltiples </a:t>
            </a:r>
            <a:r>
              <a:rPr b="1" lang="es-419"/>
              <a:t>nodos</a:t>
            </a:r>
            <a:r>
              <a:rPr lang="es-419"/>
              <a:t> dispuestas en </a:t>
            </a:r>
            <a:r>
              <a:rPr b="1" lang="es-419"/>
              <a:t>capas</a:t>
            </a:r>
            <a:endParaRPr b="1"/>
          </a:p>
          <a:p>
            <a:pPr indent="-298450" lvl="0" marL="457200" rtl="0" algn="just">
              <a:lnSpc>
                <a:spcPct val="115000"/>
              </a:lnSpc>
              <a:spcBef>
                <a:spcPts val="0"/>
              </a:spcBef>
              <a:spcAft>
                <a:spcPts val="0"/>
              </a:spcAft>
              <a:buSzPts val="1100"/>
              <a:buChar char="-"/>
            </a:pPr>
            <a:r>
              <a:rPr lang="es-419"/>
              <a:t>Los nodos de las </a:t>
            </a:r>
            <a:r>
              <a:rPr b="1" lang="es-419"/>
              <a:t>capas adyacentes</a:t>
            </a:r>
            <a:r>
              <a:rPr lang="es-419"/>
              <a:t> tienen </a:t>
            </a:r>
            <a:r>
              <a:rPr b="1" lang="es-419"/>
              <a:t>conexiones</a:t>
            </a:r>
            <a:r>
              <a:rPr lang="es-419"/>
              <a:t> entre ellos y todas estas conexiones tienen pesos asociados con ellas</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rPr lang="es-419"/>
              <a:t>En este modelo los tipos de capas pueden ser 3</a:t>
            </a:r>
            <a:endParaRPr/>
          </a:p>
          <a:p>
            <a:pPr indent="-298450" lvl="0" marL="457200" rtl="0" algn="just">
              <a:lnSpc>
                <a:spcPct val="115000"/>
              </a:lnSpc>
              <a:spcBef>
                <a:spcPts val="0"/>
              </a:spcBef>
              <a:spcAft>
                <a:spcPts val="0"/>
              </a:spcAft>
              <a:buSzPts val="1100"/>
              <a:buChar char="-"/>
            </a:pPr>
            <a:r>
              <a:rPr b="1" lang="es-419"/>
              <a:t>Capa de entrada</a:t>
            </a:r>
            <a:r>
              <a:rPr lang="es-419"/>
              <a:t>: los nodos proporciona información externa a la red. No se realiza ningún cálculo en estos nodo, simplemente transmiten la información a los nodos de la capa oculta. </a:t>
            </a:r>
            <a:endParaRPr/>
          </a:p>
          <a:p>
            <a:pPr indent="-298450" lvl="0" marL="457200" rtl="0" algn="just">
              <a:lnSpc>
                <a:spcPct val="115000"/>
              </a:lnSpc>
              <a:spcBef>
                <a:spcPts val="0"/>
              </a:spcBef>
              <a:spcAft>
                <a:spcPts val="0"/>
              </a:spcAft>
              <a:buSzPts val="1100"/>
              <a:buChar char="-"/>
            </a:pPr>
            <a:r>
              <a:rPr b="1" lang="es-419"/>
              <a:t>Capas ocultas</a:t>
            </a:r>
            <a:r>
              <a:rPr lang="es-419"/>
              <a:t>: los nodos realizan cálculos y transfieren información de los nodos de entrada a los nodos de salida. Una red feedforward puede tener cero o múltiples capas ocultas.</a:t>
            </a:r>
            <a:endParaRPr/>
          </a:p>
          <a:p>
            <a:pPr indent="-298450" lvl="0" marL="457200" rtl="0" algn="just">
              <a:lnSpc>
                <a:spcPct val="115000"/>
              </a:lnSpc>
              <a:spcBef>
                <a:spcPts val="0"/>
              </a:spcBef>
              <a:spcAft>
                <a:spcPts val="0"/>
              </a:spcAft>
              <a:buSzPts val="1100"/>
              <a:buChar char="-"/>
            </a:pPr>
            <a:r>
              <a:rPr b="1" lang="es-419"/>
              <a:t>Capa de salida</a:t>
            </a:r>
            <a:r>
              <a:rPr lang="es-419"/>
              <a:t>: los nodos de salida son responsables de los cálculos y la transferencia de información de la red al mundo exterior.</a:t>
            </a:r>
            <a:endParaRPr/>
          </a:p>
          <a:p>
            <a:pPr indent="0" lvl="0" marL="0" rtl="0" algn="just">
              <a:lnSpc>
                <a:spcPct val="115000"/>
              </a:lnSpc>
              <a:spcBef>
                <a:spcPts val="0"/>
              </a:spcBef>
              <a:spcAft>
                <a:spcPts val="0"/>
              </a:spcAft>
              <a:buClr>
                <a:schemeClr val="dk1"/>
              </a:buClr>
              <a:buSzPts val="1100"/>
              <a:buFont typeface="Arial"/>
              <a:buNone/>
            </a:pPr>
            <a:r>
              <a:rPr lang="es-419"/>
              <a:t>	</a:t>
            </a:r>
            <a:endParaRPr/>
          </a:p>
          <a:p>
            <a:pPr indent="0" lvl="0" marL="0" rtl="0" algn="just">
              <a:lnSpc>
                <a:spcPct val="115000"/>
              </a:lnSpc>
              <a:spcBef>
                <a:spcPts val="0"/>
              </a:spcBef>
              <a:spcAft>
                <a:spcPts val="0"/>
              </a:spcAft>
              <a:buNone/>
            </a:pPr>
            <a:r>
              <a:rPr lang="es-419"/>
              <a:t>En una red feedforward, la </a:t>
            </a:r>
            <a:r>
              <a:rPr b="1" lang="es-419"/>
              <a:t>información se mueve en una sola dirección, hacia adelante,</a:t>
            </a:r>
            <a:r>
              <a:rPr lang="es-419"/>
              <a:t> desde los nodos de entrada, a través de los nodos ocultos y hacia los nodos de salida. No hay ciclos ni bucles en la red (por eso las conexiones tienen dirección).</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rPr lang="es-419"/>
              <a:t>Ahora vamos a mirar más de cerca un nodo...</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f84af216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ef84af216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solidFill>
                  <a:schemeClr val="dk1"/>
                </a:solidFill>
              </a:rPr>
              <a:t>La unidad básica de cálculo en una red neuronal es la </a:t>
            </a:r>
            <a:r>
              <a:rPr b="1" lang="es-419">
                <a:solidFill>
                  <a:schemeClr val="dk1"/>
                </a:solidFill>
              </a:rPr>
              <a:t>neurona</a:t>
            </a:r>
            <a:r>
              <a:rPr lang="es-419">
                <a:solidFill>
                  <a:schemeClr val="dk1"/>
                </a:solidFill>
              </a:rPr>
              <a:t>, a menudo llamada </a:t>
            </a:r>
            <a:r>
              <a:rPr b="1" lang="es-419">
                <a:solidFill>
                  <a:schemeClr val="dk1"/>
                </a:solidFill>
              </a:rPr>
              <a:t>nodo</a:t>
            </a:r>
            <a:r>
              <a:rPr lang="es-419">
                <a:solidFill>
                  <a:schemeClr val="dk1"/>
                </a:solidFill>
              </a:rPr>
              <a:t> o </a:t>
            </a:r>
            <a:r>
              <a:rPr b="1" lang="es-419">
                <a:solidFill>
                  <a:schemeClr val="dk1"/>
                </a:solidFill>
              </a:rPr>
              <a:t>unidad</a:t>
            </a:r>
            <a:r>
              <a:rPr lang="es-419">
                <a:solidFill>
                  <a:schemeClr val="dk1"/>
                </a:solidFill>
              </a:rPr>
              <a:t>. </a:t>
            </a:r>
            <a:endParaRPr>
              <a:solidFill>
                <a:schemeClr val="dk1"/>
              </a:solidFill>
            </a:endParaRPr>
          </a:p>
          <a:p>
            <a:pPr indent="-298450" lvl="0" marL="457200" rtl="0" algn="just">
              <a:lnSpc>
                <a:spcPct val="115000"/>
              </a:lnSpc>
              <a:spcBef>
                <a:spcPts val="0"/>
              </a:spcBef>
              <a:spcAft>
                <a:spcPts val="0"/>
              </a:spcAft>
              <a:buClr>
                <a:schemeClr val="dk1"/>
              </a:buClr>
              <a:buSzPts val="1100"/>
              <a:buChar char="-"/>
            </a:pPr>
            <a:r>
              <a:rPr lang="es-419">
                <a:solidFill>
                  <a:schemeClr val="dk1"/>
                </a:solidFill>
              </a:rPr>
              <a:t>Recibe información de algunos otros nodos, o de una fuente externa y calcula una salida. </a:t>
            </a:r>
            <a:endParaRPr>
              <a:solidFill>
                <a:schemeClr val="dk1"/>
              </a:solidFill>
            </a:endParaRPr>
          </a:p>
          <a:p>
            <a:pPr indent="-298450" lvl="0" marL="457200" rtl="0" algn="just">
              <a:lnSpc>
                <a:spcPct val="115000"/>
              </a:lnSpc>
              <a:spcBef>
                <a:spcPts val="0"/>
              </a:spcBef>
              <a:spcAft>
                <a:spcPts val="0"/>
              </a:spcAft>
              <a:buClr>
                <a:schemeClr val="dk1"/>
              </a:buClr>
              <a:buSzPts val="1100"/>
              <a:buChar char="-"/>
            </a:pPr>
            <a:r>
              <a:rPr lang="es-419">
                <a:solidFill>
                  <a:schemeClr val="dk1"/>
                </a:solidFill>
              </a:rPr>
              <a:t>Cada entrada tiene un peso asociado </a:t>
            </a:r>
            <a:r>
              <a:rPr b="1" lang="es-419">
                <a:solidFill>
                  <a:schemeClr val="dk1"/>
                </a:solidFill>
              </a:rPr>
              <a:t>w</a:t>
            </a:r>
            <a:r>
              <a:rPr lang="es-419">
                <a:solidFill>
                  <a:schemeClr val="dk1"/>
                </a:solidFill>
              </a:rPr>
              <a:t>, que se asigna en función de su importancia relativa a otras entradas.</a:t>
            </a:r>
            <a:endParaRPr>
              <a:solidFill>
                <a:schemeClr val="dk1"/>
              </a:solidFill>
            </a:endParaRPr>
          </a:p>
          <a:p>
            <a:pPr indent="-298450" lvl="0" marL="457200" rtl="0" algn="just">
              <a:lnSpc>
                <a:spcPct val="115000"/>
              </a:lnSpc>
              <a:spcBef>
                <a:spcPts val="0"/>
              </a:spcBef>
              <a:spcAft>
                <a:spcPts val="0"/>
              </a:spcAft>
              <a:buClr>
                <a:schemeClr val="dk1"/>
              </a:buClr>
              <a:buSzPts val="1100"/>
              <a:buChar char="-"/>
            </a:pPr>
            <a:r>
              <a:rPr lang="es-419">
                <a:solidFill>
                  <a:schemeClr val="dk1"/>
                </a:solidFill>
              </a:rPr>
              <a:t>El nodo aplica una </a:t>
            </a:r>
            <a:r>
              <a:rPr b="1" lang="es-419">
                <a:solidFill>
                  <a:schemeClr val="dk1"/>
                </a:solidFill>
              </a:rPr>
              <a:t>función de activación</a:t>
            </a:r>
            <a:r>
              <a:rPr lang="es-419">
                <a:solidFill>
                  <a:schemeClr val="dk1"/>
                </a:solidFill>
              </a:rPr>
              <a:t> </a:t>
            </a:r>
            <a:r>
              <a:rPr b="1" lang="es-419">
                <a:solidFill>
                  <a:schemeClr val="dk1"/>
                </a:solidFill>
              </a:rPr>
              <a:t>f</a:t>
            </a:r>
            <a:r>
              <a:rPr lang="es-419">
                <a:solidFill>
                  <a:schemeClr val="dk1"/>
                </a:solidFill>
              </a:rPr>
              <a:t> a la </a:t>
            </a:r>
            <a:r>
              <a:rPr b="1" lang="es-419">
                <a:solidFill>
                  <a:schemeClr val="dk1"/>
                </a:solidFill>
              </a:rPr>
              <a:t>suma ponderada de sus entradas</a:t>
            </a:r>
            <a:endParaRPr b="1">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rPr lang="es-419">
                <a:solidFill>
                  <a:schemeClr val="dk1"/>
                </a:solidFill>
              </a:rPr>
              <a:t>Este nodo tiene entradas numéricas </a:t>
            </a:r>
            <a:r>
              <a:rPr b="1" lang="es-419">
                <a:solidFill>
                  <a:schemeClr val="dk1"/>
                </a:solidFill>
              </a:rPr>
              <a:t>X1</a:t>
            </a:r>
            <a:r>
              <a:rPr lang="es-419">
                <a:solidFill>
                  <a:schemeClr val="dk1"/>
                </a:solidFill>
              </a:rPr>
              <a:t> y </a:t>
            </a:r>
            <a:r>
              <a:rPr b="1" lang="es-419">
                <a:solidFill>
                  <a:schemeClr val="dk1"/>
                </a:solidFill>
              </a:rPr>
              <a:t>X2</a:t>
            </a:r>
            <a:r>
              <a:rPr lang="es-419">
                <a:solidFill>
                  <a:schemeClr val="dk1"/>
                </a:solidFill>
              </a:rPr>
              <a:t> con pesos </a:t>
            </a:r>
            <a:r>
              <a:rPr b="1" lang="es-419">
                <a:solidFill>
                  <a:schemeClr val="dk1"/>
                </a:solidFill>
              </a:rPr>
              <a:t>w1</a:t>
            </a:r>
            <a:r>
              <a:rPr lang="es-419">
                <a:solidFill>
                  <a:schemeClr val="dk1"/>
                </a:solidFill>
              </a:rPr>
              <a:t> y </a:t>
            </a:r>
            <a:r>
              <a:rPr b="1" lang="es-419">
                <a:solidFill>
                  <a:schemeClr val="dk1"/>
                </a:solidFill>
              </a:rPr>
              <a:t>w2</a:t>
            </a:r>
            <a:r>
              <a:rPr lang="es-419">
                <a:solidFill>
                  <a:schemeClr val="dk1"/>
                </a:solidFill>
              </a:rPr>
              <a:t> correspondientes. </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rPr lang="es-419">
                <a:solidFill>
                  <a:schemeClr val="dk1"/>
                </a:solidFill>
              </a:rPr>
              <a:t>Además, hay otra entrada con valor 1 y peso </a:t>
            </a:r>
            <a:r>
              <a:rPr b="1" lang="es-419">
                <a:solidFill>
                  <a:schemeClr val="dk1"/>
                </a:solidFill>
              </a:rPr>
              <a:t>b (llamado bias o sesgo)</a:t>
            </a:r>
            <a:r>
              <a:rPr lang="es-419">
                <a:solidFill>
                  <a:schemeClr val="dk1"/>
                </a:solidFill>
              </a:rPr>
              <a:t>. Un nodo de estas características </a:t>
            </a:r>
            <a:r>
              <a:rPr b="1" lang="es-419">
                <a:solidFill>
                  <a:schemeClr val="dk1"/>
                </a:solidFill>
              </a:rPr>
              <a:t>siempre está activo</a:t>
            </a:r>
            <a:r>
              <a:rPr lang="es-419">
                <a:solidFill>
                  <a:schemeClr val="dk1"/>
                </a:solidFill>
              </a:rPr>
              <a:t>, </a:t>
            </a:r>
            <a:r>
              <a:rPr lang="es-419">
                <a:solidFill>
                  <a:schemeClr val="dk1"/>
                </a:solidFill>
              </a:rPr>
              <a:t>y cumple funciones específicas en las que no vamos a indagar demasiado. Básicamente el término de bias es útil porque sirve como otro parámetro del modelo que se puede ajustar externamente para que el rendimiento del modelo en los datos de entrenamiento sea lo mejor posible.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just">
              <a:lnSpc>
                <a:spcPct val="115000"/>
              </a:lnSpc>
              <a:spcBef>
                <a:spcPts val="0"/>
              </a:spcBef>
              <a:spcAft>
                <a:spcPts val="0"/>
              </a:spcAft>
              <a:buNone/>
            </a:pPr>
            <a:r>
              <a:rPr lang="es-419">
                <a:solidFill>
                  <a:schemeClr val="dk1"/>
                </a:solidFill>
              </a:rPr>
              <a:t>La </a:t>
            </a:r>
            <a:r>
              <a:rPr b="1" lang="es-419">
                <a:solidFill>
                  <a:schemeClr val="dk1"/>
                </a:solidFill>
              </a:rPr>
              <a:t>función de activación</a:t>
            </a:r>
            <a:r>
              <a:rPr lang="es-419">
                <a:solidFill>
                  <a:schemeClr val="dk1"/>
                </a:solidFill>
              </a:rPr>
              <a:t> toma el resultado de la suma ponderada y realiza una operación matemática para determinar si esa neurona se activa o no. Hay varias funciones de activación que se pueden encontrar en la práctica</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acc24928cd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acc24928cd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just">
              <a:lnSpc>
                <a:spcPct val="115000"/>
              </a:lnSpc>
              <a:spcBef>
                <a:spcPts val="0"/>
              </a:spcBef>
              <a:spcAft>
                <a:spcPts val="0"/>
              </a:spcAft>
              <a:buClr>
                <a:schemeClr val="dk1"/>
              </a:buClr>
              <a:buSzPts val="1100"/>
              <a:buChar char="-"/>
            </a:pPr>
            <a:r>
              <a:rPr b="1" lang="es-419">
                <a:solidFill>
                  <a:schemeClr val="dk1"/>
                </a:solidFill>
              </a:rPr>
              <a:t>Sigmoide</a:t>
            </a:r>
            <a:r>
              <a:rPr lang="es-419">
                <a:solidFill>
                  <a:schemeClr val="dk1"/>
                </a:solidFill>
              </a:rPr>
              <a:t>: toma una entrada de valor real y la aplasta para que oscile entre 0 y 1</a:t>
            </a:r>
            <a:endParaRPr>
              <a:solidFill>
                <a:schemeClr val="dk1"/>
              </a:solidFill>
            </a:endParaRPr>
          </a:p>
          <a:p>
            <a:pPr indent="-298450" lvl="0" marL="457200" rtl="0" algn="just">
              <a:lnSpc>
                <a:spcPct val="115000"/>
              </a:lnSpc>
              <a:spcBef>
                <a:spcPts val="0"/>
              </a:spcBef>
              <a:spcAft>
                <a:spcPts val="0"/>
              </a:spcAft>
              <a:buClr>
                <a:schemeClr val="dk1"/>
              </a:buClr>
              <a:buSzPts val="1100"/>
              <a:buChar char="-"/>
            </a:pPr>
            <a:r>
              <a:rPr b="1" lang="es-419">
                <a:solidFill>
                  <a:schemeClr val="dk1"/>
                </a:solidFill>
              </a:rPr>
              <a:t>ReLU</a:t>
            </a:r>
            <a:r>
              <a:rPr lang="es-419">
                <a:solidFill>
                  <a:schemeClr val="dk1"/>
                </a:solidFill>
              </a:rPr>
              <a:t>: ReLU significa unidad lineal rectificada. Toma una entrada de valor real y la umbraliza a cero (reemplaza los valores negativos con cero)</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rPr lang="es-419">
                <a:solidFill>
                  <a:schemeClr val="dk1"/>
                </a:solidFill>
              </a:rPr>
              <a:t>En este ejemplo </a:t>
            </a:r>
            <a:r>
              <a:rPr b="1" lang="es-419">
                <a:solidFill>
                  <a:schemeClr val="dk1"/>
                </a:solidFill>
              </a:rPr>
              <a:t>z</a:t>
            </a:r>
            <a:r>
              <a:rPr lang="es-419">
                <a:solidFill>
                  <a:schemeClr val="dk1"/>
                </a:solidFill>
              </a:rPr>
              <a:t> representa el resultado de la suma ponderada.</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rPr lang="es-419">
                <a:solidFill>
                  <a:schemeClr val="dk1"/>
                </a:solidFill>
              </a:rPr>
              <a:t>Bien, tenemos todo este modelo, como le enseñamos a realizar una tarea específica?</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acc24928cd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acc24928cd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s-419">
                <a:solidFill>
                  <a:schemeClr val="dk1"/>
                </a:solidFill>
              </a:rPr>
              <a:t>El proceso por el cual una ANN aprende se conoce como algoritmo de </a:t>
            </a:r>
            <a:r>
              <a:rPr b="1" lang="es-419">
                <a:solidFill>
                  <a:schemeClr val="dk1"/>
                </a:solidFill>
              </a:rPr>
              <a:t>backpropagation</a:t>
            </a:r>
            <a:r>
              <a:rPr lang="es-419">
                <a:solidFill>
                  <a:schemeClr val="dk1"/>
                </a:solidFill>
              </a:rPr>
              <a:t>, o retropropagación (abreviado como </a:t>
            </a:r>
            <a:r>
              <a:rPr b="1" lang="es-419">
                <a:solidFill>
                  <a:schemeClr val="dk1"/>
                </a:solidFill>
              </a:rPr>
              <a:t>BackProp</a:t>
            </a:r>
            <a:r>
              <a:rPr lang="es-419">
                <a:solidFill>
                  <a:schemeClr val="dk1"/>
                </a:solidFill>
              </a:rPr>
              <a:t>):</a:t>
            </a:r>
            <a:endParaRPr>
              <a:solidFill>
                <a:schemeClr val="dk1"/>
              </a:solidFill>
            </a:endParaRPr>
          </a:p>
          <a:p>
            <a:pPr indent="-298450" lvl="0" marL="457200" rtl="0" algn="just">
              <a:lnSpc>
                <a:spcPct val="115000"/>
              </a:lnSpc>
              <a:spcBef>
                <a:spcPts val="0"/>
              </a:spcBef>
              <a:spcAft>
                <a:spcPts val="0"/>
              </a:spcAft>
              <a:buClr>
                <a:schemeClr val="dk1"/>
              </a:buClr>
              <a:buSzPts val="1100"/>
              <a:buChar char="-"/>
            </a:pPr>
            <a:r>
              <a:rPr lang="es-419">
                <a:solidFill>
                  <a:schemeClr val="dk1"/>
                </a:solidFill>
              </a:rPr>
              <a:t>Es un esquema de entrenamiento supervisado, lo que significa que aprende de datos de entrenamiento ya etiquetados.</a:t>
            </a:r>
            <a:endParaRPr>
              <a:solidFill>
                <a:schemeClr val="dk1"/>
              </a:solidFill>
            </a:endParaRPr>
          </a:p>
          <a:p>
            <a:pPr indent="-298450" lvl="0" marL="457200" rtl="0" algn="just">
              <a:lnSpc>
                <a:spcPct val="115000"/>
              </a:lnSpc>
              <a:spcBef>
                <a:spcPts val="0"/>
              </a:spcBef>
              <a:spcAft>
                <a:spcPts val="0"/>
              </a:spcAft>
              <a:buClr>
                <a:schemeClr val="dk1"/>
              </a:buClr>
              <a:buSzPts val="1100"/>
              <a:buChar char="-"/>
            </a:pPr>
            <a:r>
              <a:rPr lang="es-419">
                <a:solidFill>
                  <a:schemeClr val="dk1"/>
                </a:solidFill>
              </a:rPr>
              <a:t>El objetivo del aprendizaje es asignar pesos correctos a las conexiones entre nodos de capas diferentes. </a:t>
            </a:r>
            <a:endParaRPr>
              <a:solidFill>
                <a:schemeClr val="dk1"/>
              </a:solidFill>
            </a:endParaRPr>
          </a:p>
          <a:p>
            <a:pPr indent="-298450" lvl="0" marL="457200" rtl="0" algn="just">
              <a:lnSpc>
                <a:spcPct val="115000"/>
              </a:lnSpc>
              <a:spcBef>
                <a:spcPts val="0"/>
              </a:spcBef>
              <a:spcAft>
                <a:spcPts val="0"/>
              </a:spcAft>
              <a:buClr>
                <a:schemeClr val="dk1"/>
              </a:buClr>
              <a:buSzPts val="1100"/>
              <a:buChar char="-"/>
            </a:pPr>
            <a:r>
              <a:rPr lang="es-419">
                <a:solidFill>
                  <a:schemeClr val="dk1"/>
                </a:solidFill>
              </a:rPr>
              <a:t>Dado un </a:t>
            </a:r>
            <a:r>
              <a:rPr b="1" lang="es-419">
                <a:solidFill>
                  <a:schemeClr val="dk1"/>
                </a:solidFill>
              </a:rPr>
              <a:t>vector de entrada</a:t>
            </a:r>
            <a:r>
              <a:rPr lang="es-419">
                <a:solidFill>
                  <a:schemeClr val="dk1"/>
                </a:solidFill>
              </a:rPr>
              <a:t>, estos pesos determinan cuál es el </a:t>
            </a:r>
            <a:r>
              <a:rPr b="1" lang="es-419">
                <a:solidFill>
                  <a:schemeClr val="dk1"/>
                </a:solidFill>
              </a:rPr>
              <a:t>vector de salida</a:t>
            </a:r>
            <a:r>
              <a:rPr lang="es-419">
                <a:solidFill>
                  <a:schemeClr val="dk1"/>
                </a:solidFill>
              </a:rPr>
              <a:t>.</a:t>
            </a:r>
            <a:endParaRPr>
              <a:solidFill>
                <a:schemeClr val="dk1"/>
              </a:solidFill>
            </a:endParaRPr>
          </a:p>
          <a:p>
            <a:pPr indent="-298450" lvl="0" marL="457200" rtl="0" algn="just">
              <a:lnSpc>
                <a:spcPct val="115000"/>
              </a:lnSpc>
              <a:spcBef>
                <a:spcPts val="0"/>
              </a:spcBef>
              <a:spcAft>
                <a:spcPts val="0"/>
              </a:spcAft>
              <a:buClr>
                <a:schemeClr val="dk1"/>
              </a:buClr>
              <a:buSzPts val="1100"/>
              <a:buChar char="-"/>
            </a:pPr>
            <a:r>
              <a:rPr lang="es-419">
                <a:solidFill>
                  <a:schemeClr val="dk1"/>
                </a:solidFill>
              </a:rPr>
              <a:t>En términos simples, BackProp consiste en "aprender de los errores". El algoritmo corrige el ANN cada vez que comete errores.</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acc24928cd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acc24928cd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s-419">
                <a:solidFill>
                  <a:schemeClr val="dk1"/>
                </a:solidFill>
              </a:rPr>
              <a:t>Ejemplo reconocimiento de dígitos escritos a mano</a:t>
            </a:r>
            <a:endParaRPr>
              <a:solidFill>
                <a:schemeClr val="dk1"/>
              </a:solidFill>
            </a:endParaRPr>
          </a:p>
          <a:p>
            <a:pPr indent="-298450" lvl="0" marL="457200" rtl="0" algn="just">
              <a:lnSpc>
                <a:spcPct val="115000"/>
              </a:lnSpc>
              <a:spcBef>
                <a:spcPts val="0"/>
              </a:spcBef>
              <a:spcAft>
                <a:spcPts val="0"/>
              </a:spcAft>
              <a:buClr>
                <a:schemeClr val="dk1"/>
              </a:buClr>
              <a:buSzPts val="1100"/>
              <a:buChar char="-"/>
            </a:pPr>
            <a:r>
              <a:rPr lang="es-419">
                <a:solidFill>
                  <a:schemeClr val="dk1"/>
                </a:solidFill>
              </a:rPr>
              <a:t>En la figura, se ve una ANN que toma como entrada 784 valores numéricos, que corresponden a píxeles de una imagen de 28x28 de un dígito escrito a mano. La red tiene dos capas ocultas y 10 nodos en la capa de salida (correspondientes a los 10 dígitos).</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rPr b="1" lang="es-419">
                <a:solidFill>
                  <a:schemeClr val="dk1"/>
                </a:solidFill>
              </a:rPr>
              <a:t>Algoritmo BackProp</a:t>
            </a:r>
            <a:endParaRPr>
              <a:solidFill>
                <a:schemeClr val="dk1"/>
              </a:solidFill>
            </a:endParaRPr>
          </a:p>
          <a:p>
            <a:pPr indent="-298450" lvl="0" marL="457200" rtl="0" algn="just">
              <a:lnSpc>
                <a:spcPct val="115000"/>
              </a:lnSpc>
              <a:spcBef>
                <a:spcPts val="0"/>
              </a:spcBef>
              <a:spcAft>
                <a:spcPts val="0"/>
              </a:spcAft>
              <a:buClr>
                <a:schemeClr val="dk1"/>
              </a:buClr>
              <a:buSzPts val="1100"/>
              <a:buChar char="-"/>
            </a:pPr>
            <a:r>
              <a:rPr lang="es-419">
                <a:solidFill>
                  <a:schemeClr val="dk1"/>
                </a:solidFill>
              </a:rPr>
              <a:t>Inicialmente, todos los pesos de borde se asignan aleatoriamente. </a:t>
            </a:r>
            <a:endParaRPr>
              <a:solidFill>
                <a:schemeClr val="dk1"/>
              </a:solidFill>
            </a:endParaRPr>
          </a:p>
          <a:p>
            <a:pPr indent="-298450" lvl="0" marL="457200" rtl="0" algn="just">
              <a:lnSpc>
                <a:spcPct val="115000"/>
              </a:lnSpc>
              <a:spcBef>
                <a:spcPts val="0"/>
              </a:spcBef>
              <a:spcAft>
                <a:spcPts val="0"/>
              </a:spcAft>
              <a:buClr>
                <a:schemeClr val="dk1"/>
              </a:buClr>
              <a:buSzPts val="1100"/>
              <a:buChar char="-"/>
            </a:pPr>
            <a:r>
              <a:rPr lang="es-419">
                <a:solidFill>
                  <a:schemeClr val="dk1"/>
                </a:solidFill>
              </a:rPr>
              <a:t>Para cada entrada en el conjunto de datos de entrenamiento, el ANN se activa y se observa su salida. </a:t>
            </a:r>
            <a:endParaRPr>
              <a:solidFill>
                <a:schemeClr val="dk1"/>
              </a:solidFill>
            </a:endParaRPr>
          </a:p>
          <a:p>
            <a:pPr indent="-298450" lvl="0" marL="457200" rtl="0" algn="just">
              <a:lnSpc>
                <a:spcPct val="115000"/>
              </a:lnSpc>
              <a:spcBef>
                <a:spcPts val="0"/>
              </a:spcBef>
              <a:spcAft>
                <a:spcPts val="0"/>
              </a:spcAft>
              <a:buClr>
                <a:schemeClr val="dk1"/>
              </a:buClr>
              <a:buSzPts val="1100"/>
              <a:buChar char="-"/>
            </a:pPr>
            <a:r>
              <a:rPr lang="es-419">
                <a:solidFill>
                  <a:schemeClr val="dk1"/>
                </a:solidFill>
              </a:rPr>
              <a:t>Esta salida se compara con la salida deseada que ya conocemos, y el error se propaga de nuevo a la capa anterior. </a:t>
            </a:r>
            <a:endParaRPr>
              <a:solidFill>
                <a:schemeClr val="dk1"/>
              </a:solidFill>
            </a:endParaRPr>
          </a:p>
          <a:p>
            <a:pPr indent="-298450" lvl="0" marL="457200" rtl="0" algn="just">
              <a:lnSpc>
                <a:spcPct val="115000"/>
              </a:lnSpc>
              <a:spcBef>
                <a:spcPts val="0"/>
              </a:spcBef>
              <a:spcAft>
                <a:spcPts val="0"/>
              </a:spcAft>
              <a:buClr>
                <a:schemeClr val="dk1"/>
              </a:buClr>
              <a:buSzPts val="1100"/>
              <a:buChar char="-"/>
            </a:pPr>
            <a:r>
              <a:rPr lang="es-419">
                <a:solidFill>
                  <a:schemeClr val="dk1"/>
                </a:solidFill>
              </a:rPr>
              <a:t>Este error se observa y los pesos se ajustan en consecuencia. </a:t>
            </a:r>
            <a:endParaRPr>
              <a:solidFill>
                <a:schemeClr val="dk1"/>
              </a:solidFill>
            </a:endParaRPr>
          </a:p>
          <a:p>
            <a:pPr indent="-298450" lvl="0" marL="457200" rtl="0" algn="just">
              <a:lnSpc>
                <a:spcPct val="115000"/>
              </a:lnSpc>
              <a:spcBef>
                <a:spcPts val="0"/>
              </a:spcBef>
              <a:spcAft>
                <a:spcPts val="0"/>
              </a:spcAft>
              <a:buClr>
                <a:schemeClr val="dk1"/>
              </a:buClr>
              <a:buSzPts val="1100"/>
              <a:buChar char="-"/>
            </a:pPr>
            <a:r>
              <a:rPr lang="es-419">
                <a:solidFill>
                  <a:schemeClr val="dk1"/>
                </a:solidFill>
              </a:rPr>
              <a:t>Este proceso se repite hasta que el error de salida esté por debajo de un umbral predeterminado.</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acc24928cd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acc24928cd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solidFill>
                  <a:schemeClr val="dk1"/>
                </a:solidFill>
              </a:rPr>
              <a:t>Una vez que termina el algoritmo BackProp, la ANN aprende a reconocer dígitos escritos a mano y está lista para trabajar con </a:t>
            </a:r>
            <a:r>
              <a:rPr b="1" lang="es-419">
                <a:solidFill>
                  <a:schemeClr val="dk1"/>
                </a:solidFill>
              </a:rPr>
              <a:t>nuevas entradas</a:t>
            </a:r>
            <a:r>
              <a:rPr lang="es-419">
                <a:solidFill>
                  <a:schemeClr val="dk1"/>
                </a:solidFill>
              </a:rPr>
              <a:t>. </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rPr lang="es-419">
                <a:solidFill>
                  <a:schemeClr val="dk1"/>
                </a:solidFill>
              </a:rPr>
              <a:t>La siguiente animación muestra </a:t>
            </a:r>
            <a:r>
              <a:rPr lang="es-419">
                <a:solidFill>
                  <a:schemeClr val="dk1"/>
                </a:solidFill>
              </a:rPr>
              <a:t>cómo</a:t>
            </a:r>
            <a:r>
              <a:rPr lang="es-419">
                <a:solidFill>
                  <a:schemeClr val="dk1"/>
                </a:solidFill>
              </a:rPr>
              <a:t> fluye la información de una nueva entrada para una red que ya fue entrenada.</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acc24928cd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acc24928cd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419">
                <a:solidFill>
                  <a:schemeClr val="dk1"/>
                </a:solidFill>
              </a:rPr>
              <a:t>Con el fin de mejorar el entendimiento de este proceso, se puede utilizar la web desarrollada por Adam Harley (</a:t>
            </a:r>
            <a:r>
              <a:rPr lang="es-419" u="sng">
                <a:solidFill>
                  <a:schemeClr val="hlink"/>
                </a:solidFill>
                <a:hlinkClick r:id="rId2"/>
              </a:rPr>
              <a:t>http://scs.ryerson.ca/~aharley/vis/fc/</a:t>
            </a:r>
            <a:r>
              <a:rPr lang="es-419">
                <a:solidFill>
                  <a:schemeClr val="dk1"/>
                </a:solidFill>
              </a:rPr>
              <a:t>) para visualizar en 3D una ANN que fue entrenada (usando Backpropagation) sobre el dataset MNIST para reconocer dígitos escrito a mano, y permite escribir tus propios dígitos (con el mouse)</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a:p>
            <a:pPr indent="0" lvl="0" marL="0" rtl="0" algn="just">
              <a:lnSpc>
                <a:spcPct val="115000"/>
              </a:lnSpc>
              <a:spcBef>
                <a:spcPts val="0"/>
              </a:spcBef>
              <a:spcAft>
                <a:spcPts val="0"/>
              </a:spcAft>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6" name="Shape 66"/>
        <p:cNvGrpSpPr/>
        <p:nvPr/>
      </p:nvGrpSpPr>
      <p:grpSpPr>
        <a:xfrm>
          <a:off x="0" y="0"/>
          <a:ext cx="0" cy="0"/>
          <a:chOff x="0" y="0"/>
          <a:chExt cx="0" cy="0"/>
        </a:xfrm>
      </p:grpSpPr>
      <p:cxnSp>
        <p:nvCxnSpPr>
          <p:cNvPr id="67" name="Google Shape;67;p14"/>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68" name="Google Shape;68;p14"/>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69" name="Google Shape;69;p14"/>
          <p:cNvGrpSpPr/>
          <p:nvPr/>
        </p:nvGrpSpPr>
        <p:grpSpPr>
          <a:xfrm>
            <a:off x="1004144" y="1022025"/>
            <a:ext cx="7136668" cy="152400"/>
            <a:chOff x="1346429" y="1011300"/>
            <a:chExt cx="6452100" cy="152400"/>
          </a:xfrm>
        </p:grpSpPr>
        <p:cxnSp>
          <p:nvCxnSpPr>
            <p:cNvPr id="70" name="Google Shape;70;p14"/>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71" name="Google Shape;71;p14"/>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72" name="Google Shape;72;p14"/>
          <p:cNvGrpSpPr/>
          <p:nvPr/>
        </p:nvGrpSpPr>
        <p:grpSpPr>
          <a:xfrm>
            <a:off x="1004151" y="3969100"/>
            <a:ext cx="7136668" cy="152400"/>
            <a:chOff x="1346435" y="3969088"/>
            <a:chExt cx="6452100" cy="152400"/>
          </a:xfrm>
        </p:grpSpPr>
        <p:cxnSp>
          <p:nvCxnSpPr>
            <p:cNvPr id="73" name="Google Shape;73;p14"/>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74" name="Google Shape;74;p14"/>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75" name="Google Shape;75;p14"/>
          <p:cNvSpPr txBox="1"/>
          <p:nvPr>
            <p:ph type="ctrTitle"/>
          </p:nvPr>
        </p:nvSpPr>
        <p:spPr>
          <a:xfrm>
            <a:off x="1004150" y="1751764"/>
            <a:ext cx="7136700" cy="1022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400"/>
              <a:buNone/>
              <a:defRPr sz="5400"/>
            </a:lvl1pPr>
            <a:lvl2pPr lvl="1" rtl="0" algn="ctr">
              <a:spcBef>
                <a:spcPts val="0"/>
              </a:spcBef>
              <a:spcAft>
                <a:spcPts val="0"/>
              </a:spcAft>
              <a:buSzPts val="5400"/>
              <a:buNone/>
              <a:defRPr sz="5400"/>
            </a:lvl2pPr>
            <a:lvl3pPr lvl="2" rtl="0" algn="ctr">
              <a:spcBef>
                <a:spcPts val="0"/>
              </a:spcBef>
              <a:spcAft>
                <a:spcPts val="0"/>
              </a:spcAft>
              <a:buSzPts val="5400"/>
              <a:buNone/>
              <a:defRPr sz="5400"/>
            </a:lvl3pPr>
            <a:lvl4pPr lvl="3" rtl="0" algn="ctr">
              <a:spcBef>
                <a:spcPts val="0"/>
              </a:spcBef>
              <a:spcAft>
                <a:spcPts val="0"/>
              </a:spcAft>
              <a:buSzPts val="5400"/>
              <a:buNone/>
              <a:defRPr sz="5400"/>
            </a:lvl4pPr>
            <a:lvl5pPr lvl="4" rtl="0" algn="ctr">
              <a:spcBef>
                <a:spcPts val="0"/>
              </a:spcBef>
              <a:spcAft>
                <a:spcPts val="0"/>
              </a:spcAft>
              <a:buSzPts val="5400"/>
              <a:buNone/>
              <a:defRPr sz="5400"/>
            </a:lvl5pPr>
            <a:lvl6pPr lvl="5" rtl="0" algn="ctr">
              <a:spcBef>
                <a:spcPts val="0"/>
              </a:spcBef>
              <a:spcAft>
                <a:spcPts val="0"/>
              </a:spcAft>
              <a:buSzPts val="5400"/>
              <a:buNone/>
              <a:defRPr sz="5400"/>
            </a:lvl6pPr>
            <a:lvl7pPr lvl="6" rtl="0" algn="ctr">
              <a:spcBef>
                <a:spcPts val="0"/>
              </a:spcBef>
              <a:spcAft>
                <a:spcPts val="0"/>
              </a:spcAft>
              <a:buSzPts val="5400"/>
              <a:buNone/>
              <a:defRPr sz="5400"/>
            </a:lvl7pPr>
            <a:lvl8pPr lvl="7" rtl="0" algn="ctr">
              <a:spcBef>
                <a:spcPts val="0"/>
              </a:spcBef>
              <a:spcAft>
                <a:spcPts val="0"/>
              </a:spcAft>
              <a:buSzPts val="5400"/>
              <a:buNone/>
              <a:defRPr sz="5400"/>
            </a:lvl8pPr>
            <a:lvl9pPr lvl="8" rtl="0" algn="ctr">
              <a:spcBef>
                <a:spcPts val="0"/>
              </a:spcBef>
              <a:spcAft>
                <a:spcPts val="0"/>
              </a:spcAft>
              <a:buSzPts val="5400"/>
              <a:buNone/>
              <a:defRPr sz="5400"/>
            </a:lvl9pPr>
          </a:lstStyle>
          <a:p/>
        </p:txBody>
      </p:sp>
      <p:sp>
        <p:nvSpPr>
          <p:cNvPr id="76" name="Google Shape;76;p14"/>
          <p:cNvSpPr txBox="1"/>
          <p:nvPr>
            <p:ph idx="1" type="subTitle"/>
          </p:nvPr>
        </p:nvSpPr>
        <p:spPr>
          <a:xfrm>
            <a:off x="2137225" y="2850039"/>
            <a:ext cx="48705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77" name="Google Shape;77;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15"/>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5"/>
          <p:cNvSpPr txBox="1"/>
          <p:nvPr>
            <p:ph type="title"/>
          </p:nvPr>
        </p:nvSpPr>
        <p:spPr>
          <a:xfrm>
            <a:off x="311700" y="814800"/>
            <a:ext cx="8571300" cy="942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a:lvl1pPr>
            <a:lvl2pPr lvl="1" rtl="0" algn="ctr">
              <a:spcBef>
                <a:spcPts val="0"/>
              </a:spcBef>
              <a:spcAft>
                <a:spcPts val="0"/>
              </a:spcAft>
              <a:buSzPts val="3600"/>
              <a:buNone/>
              <a:defRPr/>
            </a:lvl2pPr>
            <a:lvl3pPr lvl="2" rtl="0" algn="ctr">
              <a:spcBef>
                <a:spcPts val="0"/>
              </a:spcBef>
              <a:spcAft>
                <a:spcPts val="0"/>
              </a:spcAft>
              <a:buSzPts val="3600"/>
              <a:buNone/>
              <a:defRPr/>
            </a:lvl3pPr>
            <a:lvl4pPr lvl="3" rtl="0" algn="ctr">
              <a:spcBef>
                <a:spcPts val="0"/>
              </a:spcBef>
              <a:spcAft>
                <a:spcPts val="0"/>
              </a:spcAft>
              <a:buSzPts val="3600"/>
              <a:buNone/>
              <a:defRPr/>
            </a:lvl4pPr>
            <a:lvl5pPr lvl="4" rtl="0" algn="ctr">
              <a:spcBef>
                <a:spcPts val="0"/>
              </a:spcBef>
              <a:spcAft>
                <a:spcPts val="0"/>
              </a:spcAft>
              <a:buSzPts val="3600"/>
              <a:buNone/>
              <a:defRPr/>
            </a:lvl5pPr>
            <a:lvl6pPr lvl="5" rtl="0" algn="ctr">
              <a:spcBef>
                <a:spcPts val="0"/>
              </a:spcBef>
              <a:spcAft>
                <a:spcPts val="0"/>
              </a:spcAft>
              <a:buSzPts val="3600"/>
              <a:buNone/>
              <a:defRPr/>
            </a:lvl6pPr>
            <a:lvl7pPr lvl="6" rtl="0" algn="ctr">
              <a:spcBef>
                <a:spcPts val="0"/>
              </a:spcBef>
              <a:spcAft>
                <a:spcPts val="0"/>
              </a:spcAft>
              <a:buSzPts val="3600"/>
              <a:buNone/>
              <a:defRPr/>
            </a:lvl7pPr>
            <a:lvl8pPr lvl="7" rtl="0" algn="ctr">
              <a:spcBef>
                <a:spcPts val="0"/>
              </a:spcBef>
              <a:spcAft>
                <a:spcPts val="0"/>
              </a:spcAft>
              <a:buSzPts val="3600"/>
              <a:buNone/>
              <a:defRPr/>
            </a:lvl8pPr>
            <a:lvl9pPr lvl="8" rtl="0" algn="ctr">
              <a:spcBef>
                <a:spcPts val="0"/>
              </a:spcBef>
              <a:spcAft>
                <a:spcPts val="0"/>
              </a:spcAft>
              <a:buSzPts val="3600"/>
              <a:buNone/>
              <a:defRPr/>
            </a:lvl9pPr>
          </a:lstStyle>
          <a:p/>
        </p:txBody>
      </p:sp>
      <p:sp>
        <p:nvSpPr>
          <p:cNvPr id="81" name="Google Shape;81;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2" name="Shape 82"/>
        <p:cNvGrpSpPr/>
        <p:nvPr/>
      </p:nvGrpSpPr>
      <p:grpSpPr>
        <a:xfrm>
          <a:off x="0" y="0"/>
          <a:ext cx="0" cy="0"/>
          <a:chOff x="0" y="0"/>
          <a:chExt cx="0" cy="0"/>
        </a:xfrm>
      </p:grpSpPr>
      <p:sp>
        <p:nvSpPr>
          <p:cNvPr id="83" name="Google Shape;83;p16"/>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85" name="Google Shape;85;p16"/>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86" name="Google Shape;86;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7" name="Shape 87"/>
        <p:cNvGrpSpPr/>
        <p:nvPr/>
      </p:nvGrpSpPr>
      <p:grpSpPr>
        <a:xfrm>
          <a:off x="0" y="0"/>
          <a:ext cx="0" cy="0"/>
          <a:chOff x="0" y="0"/>
          <a:chExt cx="0" cy="0"/>
        </a:xfrm>
      </p:grpSpPr>
      <p:sp>
        <p:nvSpPr>
          <p:cNvPr id="88" name="Google Shape;88;p17"/>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89" name="Google Shape;89;p17"/>
          <p:cNvSpPr txBox="1"/>
          <p:nvPr>
            <p:ph idx="1" type="body"/>
          </p:nvPr>
        </p:nvSpPr>
        <p:spPr>
          <a:xfrm>
            <a:off x="311700" y="1266175"/>
            <a:ext cx="3999900" cy="330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90" name="Google Shape;90;p17"/>
          <p:cNvSpPr txBox="1"/>
          <p:nvPr>
            <p:ph idx="2" type="body"/>
          </p:nvPr>
        </p:nvSpPr>
        <p:spPr>
          <a:xfrm>
            <a:off x="4832400" y="1266175"/>
            <a:ext cx="3999900" cy="3302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91" name="Google Shape;9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94" name="Google Shape;94;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5" name="Shape 95"/>
        <p:cNvGrpSpPr/>
        <p:nvPr/>
      </p:nvGrpSpPr>
      <p:grpSpPr>
        <a:xfrm>
          <a:off x="0" y="0"/>
          <a:ext cx="0" cy="0"/>
          <a:chOff x="0" y="0"/>
          <a:chExt cx="0" cy="0"/>
        </a:xfrm>
      </p:grpSpPr>
      <p:sp>
        <p:nvSpPr>
          <p:cNvPr id="96" name="Google Shape;96;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7" name="Google Shape;97;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98" name="Google Shape;98;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99" name="Shape 99"/>
        <p:cNvGrpSpPr/>
        <p:nvPr/>
      </p:nvGrpSpPr>
      <p:grpSpPr>
        <a:xfrm>
          <a:off x="0" y="0"/>
          <a:ext cx="0" cy="0"/>
          <a:chOff x="0" y="0"/>
          <a:chExt cx="0" cy="0"/>
        </a:xfrm>
      </p:grpSpPr>
      <p:sp>
        <p:nvSpPr>
          <p:cNvPr id="100" name="Google Shape;100;p20"/>
          <p:cNvSpPr txBox="1"/>
          <p:nvPr>
            <p:ph type="title"/>
          </p:nvPr>
        </p:nvSpPr>
        <p:spPr>
          <a:xfrm>
            <a:off x="490250" y="526350"/>
            <a:ext cx="5613600" cy="40908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2"/>
              </a:buClr>
              <a:buSzPts val="5400"/>
              <a:buNone/>
              <a:defRPr b="0" sz="5400">
                <a:solidFill>
                  <a:schemeClr val="dk2"/>
                </a:solidFill>
              </a:defRPr>
            </a:lvl1pPr>
            <a:lvl2pPr lvl="1" rtl="0">
              <a:spcBef>
                <a:spcPts val="0"/>
              </a:spcBef>
              <a:spcAft>
                <a:spcPts val="0"/>
              </a:spcAft>
              <a:buClr>
                <a:schemeClr val="dk2"/>
              </a:buClr>
              <a:buSzPts val="5400"/>
              <a:buNone/>
              <a:defRPr b="0" sz="5400">
                <a:solidFill>
                  <a:schemeClr val="dk2"/>
                </a:solidFill>
              </a:defRPr>
            </a:lvl2pPr>
            <a:lvl3pPr lvl="2" rtl="0">
              <a:spcBef>
                <a:spcPts val="0"/>
              </a:spcBef>
              <a:spcAft>
                <a:spcPts val="0"/>
              </a:spcAft>
              <a:buClr>
                <a:schemeClr val="dk2"/>
              </a:buClr>
              <a:buSzPts val="5400"/>
              <a:buNone/>
              <a:defRPr b="0" sz="5400">
                <a:solidFill>
                  <a:schemeClr val="dk2"/>
                </a:solidFill>
              </a:defRPr>
            </a:lvl3pPr>
            <a:lvl4pPr lvl="3" rtl="0">
              <a:spcBef>
                <a:spcPts val="0"/>
              </a:spcBef>
              <a:spcAft>
                <a:spcPts val="0"/>
              </a:spcAft>
              <a:buClr>
                <a:schemeClr val="dk2"/>
              </a:buClr>
              <a:buSzPts val="5400"/>
              <a:buNone/>
              <a:defRPr b="0" sz="5400">
                <a:solidFill>
                  <a:schemeClr val="dk2"/>
                </a:solidFill>
              </a:defRPr>
            </a:lvl4pPr>
            <a:lvl5pPr lvl="4" rtl="0">
              <a:spcBef>
                <a:spcPts val="0"/>
              </a:spcBef>
              <a:spcAft>
                <a:spcPts val="0"/>
              </a:spcAft>
              <a:buClr>
                <a:schemeClr val="dk2"/>
              </a:buClr>
              <a:buSzPts val="5400"/>
              <a:buNone/>
              <a:defRPr b="0" sz="5400">
                <a:solidFill>
                  <a:schemeClr val="dk2"/>
                </a:solidFill>
              </a:defRPr>
            </a:lvl5pPr>
            <a:lvl6pPr lvl="5" rtl="0">
              <a:spcBef>
                <a:spcPts val="0"/>
              </a:spcBef>
              <a:spcAft>
                <a:spcPts val="0"/>
              </a:spcAft>
              <a:buClr>
                <a:schemeClr val="dk2"/>
              </a:buClr>
              <a:buSzPts val="5400"/>
              <a:buNone/>
              <a:defRPr b="0" sz="5400">
                <a:solidFill>
                  <a:schemeClr val="dk2"/>
                </a:solidFill>
              </a:defRPr>
            </a:lvl6pPr>
            <a:lvl7pPr lvl="6" rtl="0">
              <a:spcBef>
                <a:spcPts val="0"/>
              </a:spcBef>
              <a:spcAft>
                <a:spcPts val="0"/>
              </a:spcAft>
              <a:buClr>
                <a:schemeClr val="dk2"/>
              </a:buClr>
              <a:buSzPts val="5400"/>
              <a:buNone/>
              <a:defRPr b="0" sz="5400">
                <a:solidFill>
                  <a:schemeClr val="dk2"/>
                </a:solidFill>
              </a:defRPr>
            </a:lvl7pPr>
            <a:lvl8pPr lvl="7" rtl="0">
              <a:spcBef>
                <a:spcPts val="0"/>
              </a:spcBef>
              <a:spcAft>
                <a:spcPts val="0"/>
              </a:spcAft>
              <a:buClr>
                <a:schemeClr val="dk2"/>
              </a:buClr>
              <a:buSzPts val="5400"/>
              <a:buNone/>
              <a:defRPr b="0" sz="5400">
                <a:solidFill>
                  <a:schemeClr val="dk2"/>
                </a:solidFill>
              </a:defRPr>
            </a:lvl8pPr>
            <a:lvl9pPr lvl="8" rtl="0">
              <a:spcBef>
                <a:spcPts val="0"/>
              </a:spcBef>
              <a:spcAft>
                <a:spcPts val="0"/>
              </a:spcAft>
              <a:buClr>
                <a:schemeClr val="dk2"/>
              </a:buClr>
              <a:buSzPts val="5400"/>
              <a:buNone/>
              <a:defRPr b="0" sz="5400">
                <a:solidFill>
                  <a:schemeClr val="dk2"/>
                </a:solidFill>
              </a:defRPr>
            </a:lvl9pPr>
          </a:lstStyle>
          <a:p/>
        </p:txBody>
      </p:sp>
      <p:sp>
        <p:nvSpPr>
          <p:cNvPr id="101" name="Google Shape;101;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2" name="Shape 102"/>
        <p:cNvGrpSpPr/>
        <p:nvPr/>
      </p:nvGrpSpPr>
      <p:grpSpPr>
        <a:xfrm>
          <a:off x="0" y="0"/>
          <a:ext cx="0" cy="0"/>
          <a:chOff x="0" y="0"/>
          <a:chExt cx="0" cy="0"/>
        </a:xfrm>
      </p:grpSpPr>
      <p:sp>
        <p:nvSpPr>
          <p:cNvPr id="103" name="Google Shape;103;p21"/>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4" name="Google Shape;104;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105" name="Google Shape;105;p21"/>
          <p:cNvSpPr txBox="1"/>
          <p:nvPr>
            <p:ph type="title"/>
          </p:nvPr>
        </p:nvSpPr>
        <p:spPr>
          <a:xfrm>
            <a:off x="265500" y="1039675"/>
            <a:ext cx="4045200" cy="1675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06" name="Google Shape;106;p21"/>
          <p:cNvSpPr txBox="1"/>
          <p:nvPr>
            <p:ph idx="1" type="subTitle"/>
          </p:nvPr>
        </p:nvSpPr>
        <p:spPr>
          <a:xfrm>
            <a:off x="265500" y="27268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07" name="Google Shape;107;p21"/>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108" name="Google Shape;108;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9" name="Shape 109"/>
        <p:cNvGrpSpPr/>
        <p:nvPr/>
      </p:nvGrpSpPr>
      <p:grpSpPr>
        <a:xfrm>
          <a:off x="0" y="0"/>
          <a:ext cx="0" cy="0"/>
          <a:chOff x="0" y="0"/>
          <a:chExt cx="0" cy="0"/>
        </a:xfrm>
      </p:grpSpPr>
      <p:sp>
        <p:nvSpPr>
          <p:cNvPr id="110" name="Google Shape;110;p22"/>
          <p:cNvSpPr txBox="1"/>
          <p:nvPr>
            <p:ph idx="1" type="body"/>
          </p:nvPr>
        </p:nvSpPr>
        <p:spPr>
          <a:xfrm>
            <a:off x="311700" y="4230725"/>
            <a:ext cx="5998800" cy="5988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111" name="Google Shape;111;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2" name="Shape 112"/>
        <p:cNvGrpSpPr/>
        <p:nvPr/>
      </p:nvGrpSpPr>
      <p:grpSpPr>
        <a:xfrm>
          <a:off x="0" y="0"/>
          <a:ext cx="0" cy="0"/>
          <a:chOff x="0" y="0"/>
          <a:chExt cx="0" cy="0"/>
        </a:xfrm>
      </p:grpSpPr>
      <p:sp>
        <p:nvSpPr>
          <p:cNvPr id="113" name="Google Shape;113;p23"/>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3"/>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3"/>
              </a:buClr>
              <a:buSzPts val="13000"/>
              <a:buNone/>
              <a:defRPr sz="13000">
                <a:solidFill>
                  <a:schemeClr val="accent3"/>
                </a:solidFill>
              </a:defRPr>
            </a:lvl1pPr>
            <a:lvl2pPr lvl="1" rtl="0" algn="ctr">
              <a:spcBef>
                <a:spcPts val="0"/>
              </a:spcBef>
              <a:spcAft>
                <a:spcPts val="0"/>
              </a:spcAft>
              <a:buClr>
                <a:schemeClr val="accent3"/>
              </a:buClr>
              <a:buSzPts val="13000"/>
              <a:buNone/>
              <a:defRPr sz="13000">
                <a:solidFill>
                  <a:schemeClr val="accent3"/>
                </a:solidFill>
              </a:defRPr>
            </a:lvl2pPr>
            <a:lvl3pPr lvl="2" rtl="0" algn="ctr">
              <a:spcBef>
                <a:spcPts val="0"/>
              </a:spcBef>
              <a:spcAft>
                <a:spcPts val="0"/>
              </a:spcAft>
              <a:buClr>
                <a:schemeClr val="accent3"/>
              </a:buClr>
              <a:buSzPts val="13000"/>
              <a:buNone/>
              <a:defRPr sz="13000">
                <a:solidFill>
                  <a:schemeClr val="accent3"/>
                </a:solidFill>
              </a:defRPr>
            </a:lvl3pPr>
            <a:lvl4pPr lvl="3" rtl="0" algn="ctr">
              <a:spcBef>
                <a:spcPts val="0"/>
              </a:spcBef>
              <a:spcAft>
                <a:spcPts val="0"/>
              </a:spcAft>
              <a:buClr>
                <a:schemeClr val="accent3"/>
              </a:buClr>
              <a:buSzPts val="13000"/>
              <a:buNone/>
              <a:defRPr sz="13000">
                <a:solidFill>
                  <a:schemeClr val="accent3"/>
                </a:solidFill>
              </a:defRPr>
            </a:lvl4pPr>
            <a:lvl5pPr lvl="4" rtl="0" algn="ctr">
              <a:spcBef>
                <a:spcPts val="0"/>
              </a:spcBef>
              <a:spcAft>
                <a:spcPts val="0"/>
              </a:spcAft>
              <a:buClr>
                <a:schemeClr val="accent3"/>
              </a:buClr>
              <a:buSzPts val="13000"/>
              <a:buNone/>
              <a:defRPr sz="13000">
                <a:solidFill>
                  <a:schemeClr val="accent3"/>
                </a:solidFill>
              </a:defRPr>
            </a:lvl5pPr>
            <a:lvl6pPr lvl="5" rtl="0" algn="ctr">
              <a:spcBef>
                <a:spcPts val="0"/>
              </a:spcBef>
              <a:spcAft>
                <a:spcPts val="0"/>
              </a:spcAft>
              <a:buClr>
                <a:schemeClr val="accent3"/>
              </a:buClr>
              <a:buSzPts val="13000"/>
              <a:buNone/>
              <a:defRPr sz="13000">
                <a:solidFill>
                  <a:schemeClr val="accent3"/>
                </a:solidFill>
              </a:defRPr>
            </a:lvl6pPr>
            <a:lvl7pPr lvl="6" rtl="0" algn="ctr">
              <a:spcBef>
                <a:spcPts val="0"/>
              </a:spcBef>
              <a:spcAft>
                <a:spcPts val="0"/>
              </a:spcAft>
              <a:buClr>
                <a:schemeClr val="accent3"/>
              </a:buClr>
              <a:buSzPts val="13000"/>
              <a:buNone/>
              <a:defRPr sz="13000">
                <a:solidFill>
                  <a:schemeClr val="accent3"/>
                </a:solidFill>
              </a:defRPr>
            </a:lvl7pPr>
            <a:lvl8pPr lvl="7" rtl="0" algn="ctr">
              <a:spcBef>
                <a:spcPts val="0"/>
              </a:spcBef>
              <a:spcAft>
                <a:spcPts val="0"/>
              </a:spcAft>
              <a:buClr>
                <a:schemeClr val="accent3"/>
              </a:buClr>
              <a:buSzPts val="13000"/>
              <a:buNone/>
              <a:defRPr sz="13000">
                <a:solidFill>
                  <a:schemeClr val="accent3"/>
                </a:solidFill>
              </a:defRPr>
            </a:lvl8pPr>
            <a:lvl9pPr lvl="8" rtl="0" algn="ctr">
              <a:spcBef>
                <a:spcPts val="0"/>
              </a:spcBef>
              <a:spcAft>
                <a:spcPts val="0"/>
              </a:spcAft>
              <a:buClr>
                <a:schemeClr val="accent3"/>
              </a:buClr>
              <a:buSzPts val="13000"/>
              <a:buNone/>
              <a:defRPr sz="13000">
                <a:solidFill>
                  <a:schemeClr val="accent3"/>
                </a:solidFill>
              </a:defRPr>
            </a:lvl9pPr>
          </a:lstStyle>
          <a:p>
            <a:r>
              <a:t>xx%</a:t>
            </a:r>
          </a:p>
        </p:txBody>
      </p:sp>
      <p:sp>
        <p:nvSpPr>
          <p:cNvPr id="115" name="Google Shape;115;p23"/>
          <p:cNvSpPr txBox="1"/>
          <p:nvPr>
            <p:ph idx="1" type="body"/>
          </p:nvPr>
        </p:nvSpPr>
        <p:spPr>
          <a:xfrm>
            <a:off x="311700" y="2995650"/>
            <a:ext cx="8520600" cy="10716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16" name="Google Shape;11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7" name="Shape 117"/>
        <p:cNvGrpSpPr/>
        <p:nvPr/>
      </p:nvGrpSpPr>
      <p:grpSpPr>
        <a:xfrm>
          <a:off x="0" y="0"/>
          <a:ext cx="0" cy="0"/>
          <a:chOff x="0" y="0"/>
          <a:chExt cx="0" cy="0"/>
        </a:xfrm>
      </p:grpSpPr>
      <p:sp>
        <p:nvSpPr>
          <p:cNvPr id="118" name="Google Shape;118;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62" name="Shape 62"/>
        <p:cNvGrpSpPr/>
        <p:nvPr/>
      </p:nvGrpSpPr>
      <p:grpSpPr>
        <a:xfrm>
          <a:off x="0" y="0"/>
          <a:ext cx="0" cy="0"/>
          <a:chOff x="0" y="0"/>
          <a:chExt cx="0" cy="0"/>
        </a:xfrm>
      </p:grpSpPr>
      <p:sp>
        <p:nvSpPr>
          <p:cNvPr id="63" name="Google Shape;63;p1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64" name="Google Shape;64;p13"/>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rtl="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65" name="Google Shape;65;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Open Sans"/>
                <a:ea typeface="Open Sans"/>
                <a:cs typeface="Open Sans"/>
                <a:sym typeface="Open Sans"/>
              </a:defRPr>
            </a:lvl1pPr>
            <a:lvl2pPr lvl="1" rtl="0" algn="r">
              <a:buNone/>
              <a:defRPr sz="1000">
                <a:solidFill>
                  <a:schemeClr val="dk2"/>
                </a:solidFill>
                <a:latin typeface="Open Sans"/>
                <a:ea typeface="Open Sans"/>
                <a:cs typeface="Open Sans"/>
                <a:sym typeface="Open Sans"/>
              </a:defRPr>
            </a:lvl2pPr>
            <a:lvl3pPr lvl="2" rtl="0" algn="r">
              <a:buNone/>
              <a:defRPr sz="1000">
                <a:solidFill>
                  <a:schemeClr val="dk2"/>
                </a:solidFill>
                <a:latin typeface="Open Sans"/>
                <a:ea typeface="Open Sans"/>
                <a:cs typeface="Open Sans"/>
                <a:sym typeface="Open Sans"/>
              </a:defRPr>
            </a:lvl3pPr>
            <a:lvl4pPr lvl="3" rtl="0" algn="r">
              <a:buNone/>
              <a:defRPr sz="1000">
                <a:solidFill>
                  <a:schemeClr val="dk2"/>
                </a:solidFill>
                <a:latin typeface="Open Sans"/>
                <a:ea typeface="Open Sans"/>
                <a:cs typeface="Open Sans"/>
                <a:sym typeface="Open Sans"/>
              </a:defRPr>
            </a:lvl4pPr>
            <a:lvl5pPr lvl="4" rtl="0" algn="r">
              <a:buNone/>
              <a:defRPr sz="1000">
                <a:solidFill>
                  <a:schemeClr val="dk2"/>
                </a:solidFill>
                <a:latin typeface="Open Sans"/>
                <a:ea typeface="Open Sans"/>
                <a:cs typeface="Open Sans"/>
                <a:sym typeface="Open Sans"/>
              </a:defRPr>
            </a:lvl5pPr>
            <a:lvl6pPr lvl="5" rtl="0" algn="r">
              <a:buNone/>
              <a:defRPr sz="1000">
                <a:solidFill>
                  <a:schemeClr val="dk2"/>
                </a:solidFill>
                <a:latin typeface="Open Sans"/>
                <a:ea typeface="Open Sans"/>
                <a:cs typeface="Open Sans"/>
                <a:sym typeface="Open Sans"/>
              </a:defRPr>
            </a:lvl6pPr>
            <a:lvl7pPr lvl="6" rtl="0" algn="r">
              <a:buNone/>
              <a:defRPr sz="1000">
                <a:solidFill>
                  <a:schemeClr val="dk2"/>
                </a:solidFill>
                <a:latin typeface="Open Sans"/>
                <a:ea typeface="Open Sans"/>
                <a:cs typeface="Open Sans"/>
                <a:sym typeface="Open Sans"/>
              </a:defRPr>
            </a:lvl7pPr>
            <a:lvl8pPr lvl="7" rtl="0" algn="r">
              <a:buNone/>
              <a:defRPr sz="1000">
                <a:solidFill>
                  <a:schemeClr val="dk2"/>
                </a:solidFill>
                <a:latin typeface="Open Sans"/>
                <a:ea typeface="Open Sans"/>
                <a:cs typeface="Open Sans"/>
                <a:sym typeface="Open Sans"/>
              </a:defRPr>
            </a:lvl8pPr>
            <a:lvl9pPr lvl="8" rtl="0"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adamharley.com/nn_vis/mlp/3d.html" TargetMode="External"/><Relationship Id="rId4" Type="http://schemas.openxmlformats.org/officeDocument/2006/relationships/hyperlink" Target="https://adamharley.com/nn_vis/" TargetMode="External"/><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5"/>
          <p:cNvSpPr txBox="1"/>
          <p:nvPr>
            <p:ph idx="1" type="subTitle"/>
          </p:nvPr>
        </p:nvSpPr>
        <p:spPr>
          <a:xfrm>
            <a:off x="2137225" y="2527343"/>
            <a:ext cx="4870500" cy="131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s-419" sz="3000"/>
              <a:t>Introducción a ANN</a:t>
            </a:r>
            <a:endParaRPr b="1" sz="3000"/>
          </a:p>
          <a:p>
            <a:pPr indent="0" lvl="0" marL="0" rtl="0" algn="ctr">
              <a:spcBef>
                <a:spcPts val="0"/>
              </a:spcBef>
              <a:spcAft>
                <a:spcPts val="0"/>
              </a:spcAft>
              <a:buNone/>
            </a:pPr>
            <a:r>
              <a:rPr b="1" lang="es-419" sz="3000"/>
              <a:t>(breve repaso)</a:t>
            </a:r>
            <a:endParaRPr b="1" sz="3000"/>
          </a:p>
        </p:txBody>
      </p:sp>
      <p:sp>
        <p:nvSpPr>
          <p:cNvPr id="124" name="Google Shape;124;p25"/>
          <p:cNvSpPr txBox="1"/>
          <p:nvPr>
            <p:ph type="ctrTitle"/>
          </p:nvPr>
        </p:nvSpPr>
        <p:spPr>
          <a:xfrm>
            <a:off x="1004150" y="1184400"/>
            <a:ext cx="7136700" cy="147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419" sz="6000"/>
              <a:t>Visión por Computadora</a:t>
            </a:r>
            <a:endParaRPr sz="6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Artificial Neural Networks</a:t>
            </a:r>
            <a:endParaRPr/>
          </a:p>
        </p:txBody>
      </p:sp>
      <p:sp>
        <p:nvSpPr>
          <p:cNvPr id="130" name="Google Shape;130;p26"/>
          <p:cNvSpPr txBox="1"/>
          <p:nvPr>
            <p:ph idx="1" type="body"/>
          </p:nvPr>
        </p:nvSpPr>
        <p:spPr>
          <a:xfrm>
            <a:off x="311700" y="1266325"/>
            <a:ext cx="8520600" cy="353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Una ANN es un modelo computacional inspirado en cómo procesan la información las </a:t>
            </a:r>
            <a:r>
              <a:rPr b="1" lang="es-419"/>
              <a:t>redes neuronales biológicas</a:t>
            </a:r>
            <a:r>
              <a:rPr lang="es-419"/>
              <a:t> del cerebro.</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7"/>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Artificial Neural Networks</a:t>
            </a:r>
            <a:endParaRPr/>
          </a:p>
        </p:txBody>
      </p:sp>
      <p:sp>
        <p:nvSpPr>
          <p:cNvPr id="136" name="Google Shape;136;p27"/>
          <p:cNvSpPr txBox="1"/>
          <p:nvPr>
            <p:ph idx="1" type="body"/>
          </p:nvPr>
        </p:nvSpPr>
        <p:spPr>
          <a:xfrm>
            <a:off x="311700" y="1266325"/>
            <a:ext cx="8520600" cy="353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Una ANN es un modelo computacional inspirado en cómo procesan la información las </a:t>
            </a:r>
            <a:r>
              <a:rPr b="1" lang="es-419"/>
              <a:t>redes neuronales biológicas</a:t>
            </a:r>
            <a:r>
              <a:rPr lang="es-419"/>
              <a:t> del cerebro.</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137" name="Google Shape;137;p27"/>
          <p:cNvPicPr preferRelativeResize="0"/>
          <p:nvPr/>
        </p:nvPicPr>
        <p:blipFill>
          <a:blip r:embed="rId3">
            <a:alphaModFix/>
          </a:blip>
          <a:stretch>
            <a:fillRect/>
          </a:stretch>
        </p:blipFill>
        <p:spPr>
          <a:xfrm>
            <a:off x="256100" y="2061724"/>
            <a:ext cx="4433819" cy="2740100"/>
          </a:xfrm>
          <a:prstGeom prst="rect">
            <a:avLst/>
          </a:prstGeom>
          <a:noFill/>
          <a:ln>
            <a:noFill/>
          </a:ln>
        </p:spPr>
      </p:pic>
      <p:sp>
        <p:nvSpPr>
          <p:cNvPr id="138" name="Google Shape;138;p27"/>
          <p:cNvSpPr txBox="1"/>
          <p:nvPr/>
        </p:nvSpPr>
        <p:spPr>
          <a:xfrm>
            <a:off x="256100" y="4765525"/>
            <a:ext cx="4470000" cy="2394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s-419" sz="1200">
                <a:solidFill>
                  <a:schemeClr val="dk2"/>
                </a:solidFill>
                <a:latin typeface="Open Sans"/>
                <a:ea typeface="Open Sans"/>
                <a:cs typeface="Open Sans"/>
                <a:sym typeface="Open Sans"/>
              </a:rPr>
              <a:t>Multilayer Perceptron (MLP)</a:t>
            </a:r>
            <a:endParaRPr sz="1200">
              <a:solidFill>
                <a:schemeClr val="dk2"/>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8"/>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Artificial Neural Networks</a:t>
            </a:r>
            <a:endParaRPr/>
          </a:p>
        </p:txBody>
      </p:sp>
      <p:sp>
        <p:nvSpPr>
          <p:cNvPr id="144" name="Google Shape;144;p28"/>
          <p:cNvSpPr txBox="1"/>
          <p:nvPr>
            <p:ph idx="1" type="body"/>
          </p:nvPr>
        </p:nvSpPr>
        <p:spPr>
          <a:xfrm>
            <a:off x="311700" y="1266325"/>
            <a:ext cx="8520600" cy="353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U</a:t>
            </a:r>
            <a:r>
              <a:rPr lang="es-419"/>
              <a:t>na ANN es un modelo computacional inspirado en </a:t>
            </a:r>
            <a:r>
              <a:rPr lang="es-419"/>
              <a:t>cómo procesan la información</a:t>
            </a:r>
            <a:r>
              <a:rPr lang="es-419"/>
              <a:t> las </a:t>
            </a:r>
            <a:r>
              <a:rPr b="1" lang="es-419"/>
              <a:t>redes neuronales biológicas</a:t>
            </a:r>
            <a:r>
              <a:rPr lang="es-419"/>
              <a:t> del cerebro.</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145" name="Google Shape;145;p28"/>
          <p:cNvPicPr preferRelativeResize="0"/>
          <p:nvPr/>
        </p:nvPicPr>
        <p:blipFill>
          <a:blip r:embed="rId3">
            <a:alphaModFix/>
          </a:blip>
          <a:stretch>
            <a:fillRect/>
          </a:stretch>
        </p:blipFill>
        <p:spPr>
          <a:xfrm>
            <a:off x="256100" y="2061724"/>
            <a:ext cx="4433819" cy="2740100"/>
          </a:xfrm>
          <a:prstGeom prst="rect">
            <a:avLst/>
          </a:prstGeom>
          <a:noFill/>
          <a:ln>
            <a:noFill/>
          </a:ln>
        </p:spPr>
      </p:pic>
      <p:grpSp>
        <p:nvGrpSpPr>
          <p:cNvPr id="146" name="Google Shape;146;p28"/>
          <p:cNvGrpSpPr/>
          <p:nvPr/>
        </p:nvGrpSpPr>
        <p:grpSpPr>
          <a:xfrm>
            <a:off x="4770837" y="2571747"/>
            <a:ext cx="4281785" cy="1882911"/>
            <a:chOff x="4888050" y="2136725"/>
            <a:chExt cx="4119874" cy="1802001"/>
          </a:xfrm>
        </p:grpSpPr>
        <p:pic>
          <p:nvPicPr>
            <p:cNvPr id="147" name="Google Shape;147;p28"/>
            <p:cNvPicPr preferRelativeResize="0"/>
            <p:nvPr/>
          </p:nvPicPr>
          <p:blipFill rotWithShape="1">
            <a:blip r:embed="rId4">
              <a:alphaModFix/>
            </a:blip>
            <a:srcRect b="30333" l="0" r="0" t="0"/>
            <a:stretch/>
          </p:blipFill>
          <p:spPr>
            <a:xfrm>
              <a:off x="4888050" y="2136725"/>
              <a:ext cx="4119874" cy="1531150"/>
            </a:xfrm>
            <a:prstGeom prst="rect">
              <a:avLst/>
            </a:prstGeom>
            <a:noFill/>
            <a:ln>
              <a:noFill/>
            </a:ln>
          </p:spPr>
        </p:pic>
        <p:pic>
          <p:nvPicPr>
            <p:cNvPr id="148" name="Google Shape;148;p28"/>
            <p:cNvPicPr preferRelativeResize="0"/>
            <p:nvPr/>
          </p:nvPicPr>
          <p:blipFill rotWithShape="1">
            <a:blip r:embed="rId4">
              <a:alphaModFix/>
            </a:blip>
            <a:srcRect b="0" l="0" r="0" t="87676"/>
            <a:stretch/>
          </p:blipFill>
          <p:spPr>
            <a:xfrm>
              <a:off x="4888050" y="3667876"/>
              <a:ext cx="4119874" cy="270850"/>
            </a:xfrm>
            <a:prstGeom prst="rect">
              <a:avLst/>
            </a:prstGeom>
            <a:noFill/>
            <a:ln>
              <a:noFill/>
            </a:ln>
          </p:spPr>
        </p:pic>
      </p:grpSp>
      <p:sp>
        <p:nvSpPr>
          <p:cNvPr id="149" name="Google Shape;149;p28"/>
          <p:cNvSpPr txBox="1"/>
          <p:nvPr/>
        </p:nvSpPr>
        <p:spPr>
          <a:xfrm>
            <a:off x="256100" y="4765525"/>
            <a:ext cx="4470000" cy="2394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s-419" sz="1200">
                <a:solidFill>
                  <a:schemeClr val="dk2"/>
                </a:solidFill>
                <a:latin typeface="Open Sans"/>
                <a:ea typeface="Open Sans"/>
                <a:cs typeface="Open Sans"/>
                <a:sym typeface="Open Sans"/>
              </a:rPr>
              <a:t>Multilayer Perceptron (MLP)</a:t>
            </a:r>
            <a:endParaRPr sz="1200">
              <a:solidFill>
                <a:schemeClr val="dk2"/>
              </a:solidFill>
              <a:latin typeface="Open Sans"/>
              <a:ea typeface="Open Sans"/>
              <a:cs typeface="Open Sans"/>
              <a:sym typeface="Open Sans"/>
            </a:endParaRPr>
          </a:p>
        </p:txBody>
      </p:sp>
      <p:sp>
        <p:nvSpPr>
          <p:cNvPr id="150" name="Google Shape;150;p28"/>
          <p:cNvSpPr txBox="1"/>
          <p:nvPr/>
        </p:nvSpPr>
        <p:spPr>
          <a:xfrm>
            <a:off x="4676713" y="4765525"/>
            <a:ext cx="4470000" cy="2394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None/>
            </a:pPr>
            <a:r>
              <a:rPr lang="es-419" sz="1200">
                <a:solidFill>
                  <a:schemeClr val="dk2"/>
                </a:solidFill>
                <a:latin typeface="Open Sans"/>
                <a:ea typeface="Open Sans"/>
                <a:cs typeface="Open Sans"/>
                <a:sym typeface="Open Sans"/>
              </a:rPr>
              <a:t>Perceptron (one neuron)</a:t>
            </a:r>
            <a:endParaRPr sz="1200">
              <a:solidFill>
                <a:schemeClr val="dk2"/>
              </a:solidFill>
              <a:latin typeface="Open Sans"/>
              <a:ea typeface="Open Sans"/>
              <a:cs typeface="Open Sans"/>
              <a:sym typeface="Open Sans"/>
            </a:endParaRPr>
          </a:p>
        </p:txBody>
      </p:sp>
      <p:sp>
        <p:nvSpPr>
          <p:cNvPr id="151" name="Google Shape;151;p28"/>
          <p:cNvSpPr/>
          <p:nvPr/>
        </p:nvSpPr>
        <p:spPr>
          <a:xfrm>
            <a:off x="5529965" y="3264760"/>
            <a:ext cx="335400" cy="3354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8"/>
          <p:cNvSpPr/>
          <p:nvPr/>
        </p:nvSpPr>
        <p:spPr>
          <a:xfrm>
            <a:off x="6017356" y="2829825"/>
            <a:ext cx="84300" cy="92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8"/>
          <p:cNvSpPr/>
          <p:nvPr/>
        </p:nvSpPr>
        <p:spPr>
          <a:xfrm>
            <a:off x="5750900" y="2586625"/>
            <a:ext cx="335400" cy="3354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8"/>
          <p:cNvSpPr/>
          <p:nvPr/>
        </p:nvSpPr>
        <p:spPr>
          <a:xfrm>
            <a:off x="5986694" y="3881294"/>
            <a:ext cx="84300" cy="92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8"/>
          <p:cNvSpPr/>
          <p:nvPr/>
        </p:nvSpPr>
        <p:spPr>
          <a:xfrm>
            <a:off x="5720692" y="3813490"/>
            <a:ext cx="335400" cy="3354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9"/>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Artificial Neural Networks</a:t>
            </a:r>
            <a:endParaRPr/>
          </a:p>
        </p:txBody>
      </p:sp>
      <p:sp>
        <p:nvSpPr>
          <p:cNvPr id="161" name="Google Shape;161;p29"/>
          <p:cNvSpPr txBox="1"/>
          <p:nvPr>
            <p:ph idx="1" type="body"/>
          </p:nvPr>
        </p:nvSpPr>
        <p:spPr>
          <a:xfrm>
            <a:off x="311700" y="1266325"/>
            <a:ext cx="8520600" cy="353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Una ANN es un modelo computacional inspirado en cómo procesan la información las </a:t>
            </a:r>
            <a:r>
              <a:rPr b="1" lang="es-419"/>
              <a:t>redes neuronales biológicas</a:t>
            </a:r>
            <a:r>
              <a:rPr lang="es-419"/>
              <a:t> del cerebro.</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162" name="Google Shape;162;p29"/>
          <p:cNvPicPr preferRelativeResize="0"/>
          <p:nvPr/>
        </p:nvPicPr>
        <p:blipFill>
          <a:blip r:embed="rId3">
            <a:alphaModFix/>
          </a:blip>
          <a:stretch>
            <a:fillRect/>
          </a:stretch>
        </p:blipFill>
        <p:spPr>
          <a:xfrm>
            <a:off x="1249725" y="2129350"/>
            <a:ext cx="6644550" cy="2672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0"/>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Entrenando una ANN: Backpropagation</a:t>
            </a:r>
            <a:endParaRPr/>
          </a:p>
        </p:txBody>
      </p:sp>
      <p:sp>
        <p:nvSpPr>
          <p:cNvPr id="168" name="Google Shape;168;p30"/>
          <p:cNvSpPr txBox="1"/>
          <p:nvPr>
            <p:ph idx="1" type="body"/>
          </p:nvPr>
        </p:nvSpPr>
        <p:spPr>
          <a:xfrm>
            <a:off x="311700" y="1266325"/>
            <a:ext cx="8520600" cy="353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2200"/>
              <a:t>U</a:t>
            </a:r>
            <a:r>
              <a:rPr lang="es-419" sz="2200"/>
              <a:t>na ANN </a:t>
            </a:r>
            <a:r>
              <a:rPr i="1" lang="es-419" sz="2200"/>
              <a:t>aprende </a:t>
            </a:r>
            <a:r>
              <a:rPr lang="es-419" sz="2200"/>
              <a:t>gracias al algoritmo de </a:t>
            </a:r>
            <a:r>
              <a:rPr b="1" lang="es-419" sz="2200"/>
              <a:t>Backpropagation</a:t>
            </a:r>
            <a:endParaRPr sz="2200"/>
          </a:p>
          <a:p>
            <a:pPr indent="-368300" lvl="0" marL="457200" rtl="0" algn="l">
              <a:spcBef>
                <a:spcPts val="1600"/>
              </a:spcBef>
              <a:spcAft>
                <a:spcPts val="0"/>
              </a:spcAft>
              <a:buSzPts val="2200"/>
              <a:buChar char="●"/>
            </a:pPr>
            <a:r>
              <a:rPr lang="es-419" sz="2200"/>
              <a:t>Esquema de entrenamiento supervisado</a:t>
            </a:r>
            <a:endParaRPr sz="2200"/>
          </a:p>
          <a:p>
            <a:pPr indent="-368300" lvl="0" marL="457200" rtl="0" algn="l">
              <a:spcBef>
                <a:spcPts val="0"/>
              </a:spcBef>
              <a:spcAft>
                <a:spcPts val="0"/>
              </a:spcAft>
              <a:buSzPts val="2200"/>
              <a:buChar char="●"/>
            </a:pPr>
            <a:r>
              <a:rPr lang="es-419" sz="2200"/>
              <a:t>Asigna pesos conexiones entre nodos de capas diferentes</a:t>
            </a:r>
            <a:endParaRPr sz="2200"/>
          </a:p>
          <a:p>
            <a:pPr indent="-368300" lvl="0" marL="457200" rtl="0" algn="l">
              <a:spcBef>
                <a:spcPts val="0"/>
              </a:spcBef>
              <a:spcAft>
                <a:spcPts val="0"/>
              </a:spcAft>
              <a:buSzPts val="2200"/>
              <a:buChar char="●"/>
            </a:pPr>
            <a:r>
              <a:rPr lang="es-419" sz="2200"/>
              <a:t>Los pesos determinan cuál es el vector de salida.</a:t>
            </a:r>
            <a:endParaRPr sz="2200"/>
          </a:p>
          <a:p>
            <a:pPr indent="-368300" lvl="0" marL="457200" rtl="0" algn="l">
              <a:spcBef>
                <a:spcPts val="0"/>
              </a:spcBef>
              <a:spcAft>
                <a:spcPts val="0"/>
              </a:spcAft>
              <a:buSzPts val="2200"/>
              <a:buChar char="●"/>
            </a:pPr>
            <a:r>
              <a:rPr lang="es-419" sz="2200"/>
              <a:t>BackProp </a:t>
            </a:r>
            <a:r>
              <a:rPr i="1" lang="es-419" sz="2200"/>
              <a:t>aprende de los errores</a:t>
            </a:r>
            <a:r>
              <a:rPr lang="es-419" sz="2200"/>
              <a:t>, i.e. corrige los pesos de la ANN cada vez que comete errores</a:t>
            </a:r>
            <a:endParaRPr sz="2200"/>
          </a:p>
          <a:p>
            <a:pPr indent="0" lvl="0" marL="0" rtl="0" algn="l">
              <a:spcBef>
                <a:spcPts val="1600"/>
              </a:spcBef>
              <a:spcAft>
                <a:spcPts val="1600"/>
              </a:spcAft>
              <a:buNone/>
            </a:pPr>
            <a:r>
              <a:t/>
            </a:r>
            <a:endParaRPr sz="2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1"/>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Entrenando una ANN: Backpropagation</a:t>
            </a:r>
            <a:endParaRPr/>
          </a:p>
        </p:txBody>
      </p:sp>
      <p:sp>
        <p:nvSpPr>
          <p:cNvPr id="174" name="Google Shape;174;p31"/>
          <p:cNvSpPr txBox="1"/>
          <p:nvPr>
            <p:ph idx="1" type="body"/>
          </p:nvPr>
        </p:nvSpPr>
        <p:spPr>
          <a:xfrm>
            <a:off x="311700" y="1266325"/>
            <a:ext cx="8520600" cy="353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2200"/>
              <a:t>Una ANN </a:t>
            </a:r>
            <a:r>
              <a:rPr i="1" lang="es-419" sz="2200"/>
              <a:t>aprende </a:t>
            </a:r>
            <a:r>
              <a:rPr lang="es-419" sz="2200"/>
              <a:t>gracias al algoritmo de </a:t>
            </a:r>
            <a:r>
              <a:rPr b="1" lang="es-419" sz="2200"/>
              <a:t>Backpropagation</a:t>
            </a:r>
            <a:endParaRPr sz="2200"/>
          </a:p>
          <a:p>
            <a:pPr indent="0" lvl="0" marL="0" rtl="0" algn="l">
              <a:spcBef>
                <a:spcPts val="1600"/>
              </a:spcBef>
              <a:spcAft>
                <a:spcPts val="1600"/>
              </a:spcAft>
              <a:buNone/>
            </a:pPr>
            <a:r>
              <a:t/>
            </a:r>
            <a:endParaRPr sz="2200"/>
          </a:p>
        </p:txBody>
      </p:sp>
      <p:pic>
        <p:nvPicPr>
          <p:cNvPr id="175" name="Google Shape;175;p31"/>
          <p:cNvPicPr preferRelativeResize="0"/>
          <p:nvPr/>
        </p:nvPicPr>
        <p:blipFill>
          <a:blip r:embed="rId3">
            <a:alphaModFix/>
          </a:blip>
          <a:stretch>
            <a:fillRect/>
          </a:stretch>
        </p:blipFill>
        <p:spPr>
          <a:xfrm>
            <a:off x="1778675" y="1817350"/>
            <a:ext cx="5586650" cy="3150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2"/>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Usando la</a:t>
            </a:r>
            <a:r>
              <a:rPr lang="es-419"/>
              <a:t> ANN: predicción de nuevas entradas</a:t>
            </a:r>
            <a:endParaRPr/>
          </a:p>
        </p:txBody>
      </p:sp>
      <p:sp>
        <p:nvSpPr>
          <p:cNvPr id="181" name="Google Shape;181;p32"/>
          <p:cNvSpPr txBox="1"/>
          <p:nvPr>
            <p:ph idx="1" type="body"/>
          </p:nvPr>
        </p:nvSpPr>
        <p:spPr>
          <a:xfrm>
            <a:off x="311700" y="1266325"/>
            <a:ext cx="8520600" cy="3535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sz="2200"/>
          </a:p>
        </p:txBody>
      </p:sp>
      <p:pic>
        <p:nvPicPr>
          <p:cNvPr id="182" name="Google Shape;182;p32"/>
          <p:cNvPicPr preferRelativeResize="0"/>
          <p:nvPr/>
        </p:nvPicPr>
        <p:blipFill>
          <a:blip r:embed="rId3">
            <a:alphaModFix/>
          </a:blip>
          <a:stretch>
            <a:fillRect/>
          </a:stretch>
        </p:blipFill>
        <p:spPr>
          <a:xfrm>
            <a:off x="1283363" y="1179287"/>
            <a:ext cx="6577275" cy="3709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3"/>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Usando la ANN: predicción de nuevas entradas</a:t>
            </a:r>
            <a:endParaRPr/>
          </a:p>
        </p:txBody>
      </p:sp>
      <p:sp>
        <p:nvSpPr>
          <p:cNvPr id="188" name="Google Shape;188;p33"/>
          <p:cNvSpPr txBox="1"/>
          <p:nvPr>
            <p:ph idx="1" type="body"/>
          </p:nvPr>
        </p:nvSpPr>
        <p:spPr>
          <a:xfrm>
            <a:off x="311700" y="1266325"/>
            <a:ext cx="8520600" cy="377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2000"/>
              <a:t>V</a:t>
            </a:r>
            <a:r>
              <a:rPr lang="es-419" sz="2000"/>
              <a:t>isualización 3D ANN (</a:t>
            </a:r>
            <a:r>
              <a:rPr lang="es-419" sz="2000" u="sng">
                <a:solidFill>
                  <a:schemeClr val="hlink"/>
                </a:solidFill>
                <a:hlinkClick r:id="rId3"/>
              </a:rPr>
              <a:t>https://adamharley.com/nn_vis/mlp/3d.html</a:t>
            </a:r>
            <a:r>
              <a:rPr lang="es-419" sz="2200"/>
              <a:t>)</a:t>
            </a:r>
            <a:endParaRPr sz="2200"/>
          </a:p>
          <a:p>
            <a:pPr indent="0" lvl="0" marL="0" rtl="0" algn="l">
              <a:spcBef>
                <a:spcPts val="1600"/>
              </a:spcBef>
              <a:spcAft>
                <a:spcPts val="0"/>
              </a:spcAft>
              <a:buNone/>
            </a:pPr>
            <a:r>
              <a:t/>
            </a:r>
            <a:endParaRPr sz="2200"/>
          </a:p>
          <a:p>
            <a:pPr indent="0" lvl="0" marL="0" rtl="0" algn="l">
              <a:spcBef>
                <a:spcPts val="1600"/>
              </a:spcBef>
              <a:spcAft>
                <a:spcPts val="0"/>
              </a:spcAft>
              <a:buNone/>
            </a:pPr>
            <a:r>
              <a:t/>
            </a:r>
            <a:endParaRPr sz="2200"/>
          </a:p>
          <a:p>
            <a:pPr indent="0" lvl="0" marL="0" rtl="0" algn="l">
              <a:spcBef>
                <a:spcPts val="1600"/>
              </a:spcBef>
              <a:spcAft>
                <a:spcPts val="0"/>
              </a:spcAft>
              <a:buNone/>
            </a:pPr>
            <a:r>
              <a:t/>
            </a:r>
            <a:endParaRPr sz="2200"/>
          </a:p>
          <a:p>
            <a:pPr indent="0" lvl="0" marL="0" rtl="0" algn="l">
              <a:spcBef>
                <a:spcPts val="1600"/>
              </a:spcBef>
              <a:spcAft>
                <a:spcPts val="0"/>
              </a:spcAft>
              <a:buNone/>
            </a:pPr>
            <a:r>
              <a:t/>
            </a:r>
            <a:endParaRPr sz="2200"/>
          </a:p>
          <a:p>
            <a:pPr indent="0" lvl="0" marL="0" rtl="0" algn="l">
              <a:spcBef>
                <a:spcPts val="1600"/>
              </a:spcBef>
              <a:spcAft>
                <a:spcPts val="0"/>
              </a:spcAft>
              <a:buNone/>
            </a:pPr>
            <a:r>
              <a:t/>
            </a:r>
            <a:endParaRPr sz="1300"/>
          </a:p>
          <a:p>
            <a:pPr indent="0" lvl="0" marL="0" rtl="0" algn="l">
              <a:spcBef>
                <a:spcPts val="1600"/>
              </a:spcBef>
              <a:spcAft>
                <a:spcPts val="0"/>
              </a:spcAft>
              <a:buNone/>
            </a:pPr>
            <a:r>
              <a:rPr b="1" lang="es-419" sz="1300"/>
              <a:t>NOTA</a:t>
            </a:r>
            <a:r>
              <a:rPr lang="es-419" sz="1300"/>
              <a:t>: más visualizaciones de Adam Harley en </a:t>
            </a:r>
            <a:r>
              <a:rPr lang="es-419" sz="1300" u="sng">
                <a:solidFill>
                  <a:schemeClr val="hlink"/>
                </a:solidFill>
                <a:hlinkClick r:id="rId4"/>
              </a:rPr>
              <a:t>https://adamharley.com/nn_vis/</a:t>
            </a:r>
            <a:r>
              <a:rPr lang="es-419" sz="1300"/>
              <a:t> </a:t>
            </a:r>
            <a:endParaRPr sz="1300"/>
          </a:p>
          <a:p>
            <a:pPr indent="0" lvl="0" marL="0" rtl="0" algn="l">
              <a:spcBef>
                <a:spcPts val="1600"/>
              </a:spcBef>
              <a:spcAft>
                <a:spcPts val="1600"/>
              </a:spcAft>
              <a:buNone/>
            </a:pPr>
            <a:r>
              <a:t/>
            </a:r>
            <a:endParaRPr sz="2200"/>
          </a:p>
        </p:txBody>
      </p:sp>
      <p:pic>
        <p:nvPicPr>
          <p:cNvPr id="189" name="Google Shape;189;p33"/>
          <p:cNvPicPr preferRelativeResize="0"/>
          <p:nvPr/>
        </p:nvPicPr>
        <p:blipFill rotWithShape="1">
          <a:blip r:embed="rId5">
            <a:alphaModFix/>
          </a:blip>
          <a:srcRect b="4274" l="0" r="0" t="9896"/>
          <a:stretch/>
        </p:blipFill>
        <p:spPr>
          <a:xfrm>
            <a:off x="1684514" y="1806792"/>
            <a:ext cx="5774976" cy="27881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009668"/>
      </a:accent2>
      <a:accent3>
        <a:srgbClr val="4DB6AC"/>
      </a:accent3>
      <a:accent4>
        <a:srgbClr val="FF9800"/>
      </a:accent4>
      <a:accent5>
        <a:srgbClr val="CE93D8"/>
      </a:accent5>
      <a:accent6>
        <a:srgbClr val="EEFF41"/>
      </a:accent6>
      <a:hlink>
        <a:srgbClr val="CE93D8"/>
      </a:hlink>
      <a:folHlink>
        <a:srgbClr val="CE93D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009668"/>
      </a:accent2>
      <a:accent3>
        <a:srgbClr val="4DB6AC"/>
      </a:accent3>
      <a:accent4>
        <a:srgbClr val="FF9800"/>
      </a:accent4>
      <a:accent5>
        <a:srgbClr val="CE93D8"/>
      </a:accent5>
      <a:accent6>
        <a:srgbClr val="EEFF41"/>
      </a:accent6>
      <a:hlink>
        <a:srgbClr val="CE93D8"/>
      </a:hlink>
      <a:folHlink>
        <a:srgbClr val="CE93D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