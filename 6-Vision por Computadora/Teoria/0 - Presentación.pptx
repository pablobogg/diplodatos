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Proxima Nova"/>
      <p:regular r:id="rId35"/>
      <p:bold r:id="rId36"/>
      <p:italic r:id="rId37"/>
      <p:boldItalic r:id="rId38"/>
    </p:embeddedFont>
    <p:embeddedFont>
      <p:font typeface="Alfa Slab One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roximaNova-italic.fntdata"/><Relationship Id="rId14" Type="http://schemas.openxmlformats.org/officeDocument/2006/relationships/slide" Target="slides/slide9.xml"/><Relationship Id="rId36" Type="http://schemas.openxmlformats.org/officeDocument/2006/relationships/font" Target="fonts/ProximaNova-bold.fntdata"/><Relationship Id="rId17" Type="http://schemas.openxmlformats.org/officeDocument/2006/relationships/slide" Target="slides/slide12.xml"/><Relationship Id="rId39" Type="http://schemas.openxmlformats.org/officeDocument/2006/relationships/font" Target="fonts/AlfaSlabOne-regular.fntdata"/><Relationship Id="rId16" Type="http://schemas.openxmlformats.org/officeDocument/2006/relationships/slide" Target="slides/slide11.xml"/><Relationship Id="rId38" Type="http://schemas.openxmlformats.org/officeDocument/2006/relationships/font" Target="fonts/ProximaNova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10ddb9ec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10ddb9ec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0ddb9ec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0ddb9ec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10ddb9ec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10ddb9e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10ddb9ec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10ddb9ec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0ddb9ec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0ddb9ec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0ddb9ec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0ddb9ec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10ddb9ec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10ddb9ec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10ddb9ec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10ddb9ec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10ddb9ec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10ddb9ec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10ddb9ec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10ddb9ec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10ddb9ec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10ddb9ec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10ddb9ec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10ddb9ec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10ddb9ec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10ddb9ec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5f23046c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5f23046c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b291aa05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b291aa0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e8899cc6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e8899cc6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e8899cc6c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e8899cc6c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8899cc6c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8899cc6c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10ddb9ec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10ddb9ec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acaadd94f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acaadd94f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ebddabcc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ebddabcc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bddabcc4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ebddabcc4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ebddabcc4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ebddabcc4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ebddabcc4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ebddabcc4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acaadd94f8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acaadd94f8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10ddb9ec_1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10ddb9ec_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acaadd94f8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acaadd94f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10ddb9ec_1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d10ddb9ec_1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10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11" Type="http://schemas.openxmlformats.org/officeDocument/2006/relationships/image" Target="../media/image11.png"/><Relationship Id="rId10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11" Type="http://schemas.openxmlformats.org/officeDocument/2006/relationships/image" Target="../media/image11.png"/><Relationship Id="rId10" Type="http://schemas.openxmlformats.org/officeDocument/2006/relationships/image" Target="../media/image12.png"/><Relationship Id="rId12" Type="http://schemas.openxmlformats.org/officeDocument/2006/relationships/image" Target="../media/image10.png"/><Relationship Id="rId9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2.png"/><Relationship Id="rId13" Type="http://schemas.openxmlformats.org/officeDocument/2006/relationships/image" Target="../media/image1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2.png"/><Relationship Id="rId13" Type="http://schemas.openxmlformats.org/officeDocument/2006/relationships/image" Target="../media/image1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2.png"/><Relationship Id="rId13" Type="http://schemas.openxmlformats.org/officeDocument/2006/relationships/image" Target="../media/image1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5" Type="http://schemas.openxmlformats.org/officeDocument/2006/relationships/image" Target="../media/image18.png"/><Relationship Id="rId1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2.png"/><Relationship Id="rId13" Type="http://schemas.openxmlformats.org/officeDocument/2006/relationships/image" Target="../media/image1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5" Type="http://schemas.openxmlformats.org/officeDocument/2006/relationships/image" Target="../media/image18.png"/><Relationship Id="rId14" Type="http://schemas.openxmlformats.org/officeDocument/2006/relationships/image" Target="../media/image15.png"/><Relationship Id="rId16" Type="http://schemas.openxmlformats.org/officeDocument/2006/relationships/image" Target="../media/image16.gif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2.png"/><Relationship Id="rId13" Type="http://schemas.openxmlformats.org/officeDocument/2006/relationships/image" Target="../media/image1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5" Type="http://schemas.openxmlformats.org/officeDocument/2006/relationships/image" Target="../media/image18.png"/><Relationship Id="rId14" Type="http://schemas.openxmlformats.org/officeDocument/2006/relationships/image" Target="../media/image15.png"/><Relationship Id="rId17" Type="http://schemas.openxmlformats.org/officeDocument/2006/relationships/image" Target="../media/image17.png"/><Relationship Id="rId16" Type="http://schemas.openxmlformats.org/officeDocument/2006/relationships/image" Target="../media/image16.gif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szeliski.org/Book/" TargetMode="External"/><Relationship Id="rId4" Type="http://schemas.openxmlformats.org/officeDocument/2006/relationships/hyperlink" Target="https://d2l.ai/" TargetMode="External"/><Relationship Id="rId5" Type="http://schemas.openxmlformats.org/officeDocument/2006/relationships/hyperlink" Target="http://www.deeplearningbook.org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0"/>
              <a:t>Visión por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0"/>
              <a:t>Computadora</a:t>
            </a:r>
            <a:endParaRPr sz="6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700"/>
              <a:t>DiploDatos 2025 - UNC</a:t>
            </a:r>
            <a:endParaRPr b="1" sz="5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Visión por Computadora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12725" y="3377750"/>
            <a:ext cx="32109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Dr. Diego Sebastián Pérez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Docente Investigador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AI Engineer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904" y="2680472"/>
            <a:ext cx="1776749" cy="963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303" y="1292825"/>
            <a:ext cx="3939125" cy="11582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4129964" y="2632802"/>
            <a:ext cx="24726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Cambria"/>
                <a:ea typeface="Cambria"/>
                <a:cs typeface="Cambria"/>
                <a:sym typeface="Cambria"/>
              </a:rPr>
              <a:t>DEPARTAMENTO DE INGENIERÍA EN SISTEMAS DE INFORMACIÓN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6850" y="2055000"/>
            <a:ext cx="1322750" cy="1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7186" y="3688050"/>
            <a:ext cx="2259350" cy="132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s-419" sz="2800"/>
              <a:t>Máquinas </a:t>
            </a:r>
            <a:r>
              <a:rPr b="1" i="1" lang="es-419" sz="2800"/>
              <a:t>que pueden ver</a:t>
            </a:r>
            <a:r>
              <a:rPr lang="es-419" sz="2800"/>
              <a:t> → procesar, analizar y comprender imágenes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Campo de la IA muy activo y diverso</a:t>
            </a:r>
            <a:endParaRPr sz="2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419" sz="1800"/>
              <a:t>Computer Science (Graphics, Algorithms, Systems, Machine Learning, Pattern Recognition), Engineering (Robotics, Image Processing), Physics (Optics), Biology (Neuroscience), and Psychology (Cognitive Science)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p18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9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" name="Google Shape;110;p20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21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22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24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52856">
            <a:off x="2326861" y="2566650"/>
            <a:ext cx="4050088" cy="22815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0" name="Google Shape;170;p25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4" name="Google Shape;17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25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" name="Google Shape;176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52856">
            <a:off x="2326861" y="2566650"/>
            <a:ext cx="4050088" cy="22815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223384">
            <a:off x="5233786" y="2613198"/>
            <a:ext cx="3296589" cy="20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" name="Google Shape;185;p26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7" name="Google Shape;18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0" name="Google Shape;190;p26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1" name="Google Shape;191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52856">
            <a:off x="2326861" y="2566650"/>
            <a:ext cx="4050088" cy="22815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223384">
            <a:off x="5233786" y="2613198"/>
            <a:ext cx="3296589" cy="20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280819">
            <a:off x="497524" y="2584391"/>
            <a:ext cx="3989498" cy="224607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26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p27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" name="Google Shape;20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5" name="Google Shape;205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" name="Google Shape;206;p27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7" name="Google Shape;207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52856">
            <a:off x="2326861" y="2566650"/>
            <a:ext cx="4050088" cy="22815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8" name="Google Shape;208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223384">
            <a:off x="5233786" y="2613198"/>
            <a:ext cx="3296589" cy="20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280819">
            <a:off x="497524" y="2584391"/>
            <a:ext cx="3989498" cy="224607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" name="Google Shape;211;p27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164251">
            <a:off x="1373200" y="2596176"/>
            <a:ext cx="3938575" cy="2222481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217" name="Google Shape;2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8" name="Google Shape;218;p28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9" name="Google Shape;21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1" name="Google Shape;221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3" name="Google Shape;223;p28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4" name="Google Shape;224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52856">
            <a:off x="2326861" y="2566650"/>
            <a:ext cx="4050088" cy="22815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5" name="Google Shape;225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223384">
            <a:off x="5233786" y="2613198"/>
            <a:ext cx="3296589" cy="20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pic>
        <p:nvPicPr>
          <p:cNvPr id="227" name="Google Shape;227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280819">
            <a:off x="497524" y="2584391"/>
            <a:ext cx="3989498" cy="224607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164251">
            <a:off x="1373200" y="2596176"/>
            <a:ext cx="3938575" cy="2222481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p28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 rot="-85271">
            <a:off x="3010918" y="2632028"/>
            <a:ext cx="5716016" cy="2150794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235" name="Google Shape;2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7" name="Google Shape;23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0" name="Google Shape;240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1" name="Google Shape;241;p29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2" name="Google Shape;242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52856">
            <a:off x="2326861" y="2566650"/>
            <a:ext cx="4050088" cy="22815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3" name="Google Shape;243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223384">
            <a:off x="5233786" y="2613198"/>
            <a:ext cx="3296589" cy="20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280819">
            <a:off x="497524" y="2584391"/>
            <a:ext cx="3989498" cy="224607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2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164251">
            <a:off x="1373200" y="2596176"/>
            <a:ext cx="3938575" cy="2222481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29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248" name="Google Shape;248;p2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 rot="-85271">
            <a:off x="3010918" y="2632028"/>
            <a:ext cx="5716016" cy="2150794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9" name="Google Shape;249;p2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256271">
            <a:off x="965388" y="2677173"/>
            <a:ext cx="3165375" cy="2188077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254" name="Google Shape;2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5" name="Google Shape;255;p30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6" name="Google Shape;25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7" name="Google Shape;25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8" name="Google Shape;25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0" name="Google Shape;260;p30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1" name="Google Shape;261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52856">
            <a:off x="2326861" y="2566650"/>
            <a:ext cx="4050088" cy="22815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2" name="Google Shape;262;p3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223384">
            <a:off x="5233786" y="2613198"/>
            <a:ext cx="3296589" cy="20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pic>
        <p:nvPicPr>
          <p:cNvPr id="264" name="Google Shape;264;p3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280819">
            <a:off x="497524" y="2584391"/>
            <a:ext cx="3989498" cy="224607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5" name="Google Shape;265;p3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164251">
            <a:off x="1373200" y="2596176"/>
            <a:ext cx="3938575" cy="2222481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6" name="Google Shape;266;p30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267" name="Google Shape;267;p3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 rot="-85271">
            <a:off x="3010918" y="2632028"/>
            <a:ext cx="5716016" cy="2150794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8" name="Google Shape;268;p3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256271">
            <a:off x="965388" y="2677173"/>
            <a:ext cx="3165375" cy="2188077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9" name="Google Shape;269;p3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309536">
            <a:off x="4099512" y="2628628"/>
            <a:ext cx="2323900" cy="228517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napchat update adds Lenses, which can dramatically change the look of your selfies." id="274" name="Google Shape;2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8992">
            <a:off x="204935" y="2477621"/>
            <a:ext cx="2591529" cy="230168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5" name="Google Shape;275;p31"/>
          <p:cNvPicPr preferRelativeResize="0"/>
          <p:nvPr/>
        </p:nvPicPr>
        <p:blipFill rotWithShape="1">
          <a:blip r:embed="rId4">
            <a:alphaModFix/>
          </a:blip>
          <a:srcRect b="0" l="30239" r="7795" t="0"/>
          <a:stretch/>
        </p:blipFill>
        <p:spPr>
          <a:xfrm rot="276006">
            <a:off x="2679026" y="2422896"/>
            <a:ext cx="2395321" cy="246841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6" name="Google Shape;27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8894">
            <a:off x="4255966" y="2465884"/>
            <a:ext cx="4745193" cy="232515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7" name="Google Shape;27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58793">
            <a:off x="203511" y="2530927"/>
            <a:ext cx="3785127" cy="212912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8" name="Google Shape;27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08994">
            <a:off x="2983220" y="2482370"/>
            <a:ext cx="3481710" cy="234948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64318">
            <a:off x="5112295" y="2668665"/>
            <a:ext cx="3726233" cy="220509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0" name="Google Shape;280;p31"/>
          <p:cNvPicPr preferRelativeResize="0"/>
          <p:nvPr/>
        </p:nvPicPr>
        <p:blipFill rotWithShape="1">
          <a:blip r:embed="rId9">
            <a:alphaModFix/>
          </a:blip>
          <a:srcRect b="1973" l="0" r="0" t="3588"/>
          <a:stretch/>
        </p:blipFill>
        <p:spPr>
          <a:xfrm rot="-137435">
            <a:off x="620706" y="2671379"/>
            <a:ext cx="2950738" cy="197149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1" name="Google Shape;281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52856">
            <a:off x="2326861" y="2566650"/>
            <a:ext cx="4050088" cy="22815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2" name="Google Shape;282;p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223384">
            <a:off x="5233786" y="2613198"/>
            <a:ext cx="3296589" cy="20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</p:txBody>
      </p:sp>
      <p:pic>
        <p:nvPicPr>
          <p:cNvPr id="284" name="Google Shape;284;p3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280819">
            <a:off x="497524" y="2584391"/>
            <a:ext cx="3989498" cy="224607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5" name="Google Shape;285;p3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164251">
            <a:off x="1373200" y="2596176"/>
            <a:ext cx="3938575" cy="2222481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6" name="Google Shape;286;p31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287" name="Google Shape;287;p3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 rot="-85271">
            <a:off x="3010918" y="2632028"/>
            <a:ext cx="5716016" cy="2150794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8" name="Google Shape;288;p3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256271">
            <a:off x="965388" y="2677173"/>
            <a:ext cx="3165375" cy="2188077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9" name="Google Shape;289;p3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309536">
            <a:off x="4099512" y="2628628"/>
            <a:ext cx="2323900" cy="228517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0" name="Google Shape;290;p3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8787">
            <a:off x="5466801" y="2517097"/>
            <a:ext cx="3344298" cy="250823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idx="1" type="body"/>
          </p:nvPr>
        </p:nvSpPr>
        <p:spPr>
          <a:xfrm>
            <a:off x="311700" y="1152475"/>
            <a:ext cx="87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Creciente demanda de </a:t>
            </a:r>
            <a:r>
              <a:rPr i="1" lang="es-419" sz="2800"/>
              <a:t>Computer Vision Engineers</a:t>
            </a:r>
            <a:endParaRPr i="1" sz="2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96" name="Google Shape;296;p32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idx="1" type="body"/>
          </p:nvPr>
        </p:nvSpPr>
        <p:spPr>
          <a:xfrm>
            <a:off x="311700" y="1152475"/>
            <a:ext cx="87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Creciente demanda de </a:t>
            </a:r>
            <a:r>
              <a:rPr i="1" lang="es-419" sz="2800"/>
              <a:t>Computer Vision Engineers</a:t>
            </a:r>
            <a:endParaRPr i="1" sz="2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02" name="Google Shape;302;p33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303" name="Google Shape;3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40343">
            <a:off x="229325" y="3114777"/>
            <a:ext cx="7457901" cy="1576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>
            <p:ph idx="1" type="body"/>
          </p:nvPr>
        </p:nvSpPr>
        <p:spPr>
          <a:xfrm>
            <a:off x="311700" y="1152475"/>
            <a:ext cx="87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Creciente demanda de </a:t>
            </a:r>
            <a:r>
              <a:rPr i="1" lang="es-419" sz="2800"/>
              <a:t>Computer Vision Engineers</a:t>
            </a:r>
            <a:endParaRPr i="1" sz="2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09" name="Google Shape;309;p34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310" name="Google Shape;3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40343">
            <a:off x="229325" y="3114777"/>
            <a:ext cx="7457901" cy="1576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1" name="Google Shape;31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5271">
            <a:off x="1333025" y="3091600"/>
            <a:ext cx="7516050" cy="15572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>
            <p:ph idx="1" type="body"/>
          </p:nvPr>
        </p:nvSpPr>
        <p:spPr>
          <a:xfrm>
            <a:off x="311700" y="1152475"/>
            <a:ext cx="87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Creciente demanda de </a:t>
            </a:r>
            <a:r>
              <a:rPr i="1" lang="es-419" sz="2800"/>
              <a:t>Computer Vision Engineers</a:t>
            </a:r>
            <a:endParaRPr i="1" sz="2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17" name="Google Shape;317;p35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318" name="Google Shape;3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40343">
            <a:off x="229325" y="3114777"/>
            <a:ext cx="7457901" cy="1576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9" name="Google Shape;31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5271">
            <a:off x="1333025" y="3091600"/>
            <a:ext cx="7516050" cy="15572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0" name="Google Shape;32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3683">
            <a:off x="914200" y="2970301"/>
            <a:ext cx="7456202" cy="143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>
            <p:ph idx="1" type="body"/>
          </p:nvPr>
        </p:nvSpPr>
        <p:spPr>
          <a:xfrm>
            <a:off x="311700" y="1152475"/>
            <a:ext cx="87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Creciente demanda de </a:t>
            </a:r>
            <a:r>
              <a:rPr i="1" lang="es-419" sz="2800"/>
              <a:t>Computer Vision Engineers</a:t>
            </a:r>
            <a:endParaRPr i="1" sz="2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26" name="Google Shape;326;p36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327" name="Google Shape;3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40343">
            <a:off x="229325" y="3114777"/>
            <a:ext cx="7457901" cy="1576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8" name="Google Shape;32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5271">
            <a:off x="1333025" y="3091600"/>
            <a:ext cx="7516050" cy="15572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9" name="Google Shape;32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3683">
            <a:off x="914200" y="2970301"/>
            <a:ext cx="7456202" cy="143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0" name="Google Shape;330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7234">
            <a:off x="1426975" y="3380925"/>
            <a:ext cx="7469955" cy="14537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/>
          <p:nvPr>
            <p:ph idx="1" type="body"/>
          </p:nvPr>
        </p:nvSpPr>
        <p:spPr>
          <a:xfrm>
            <a:off x="311700" y="1152475"/>
            <a:ext cx="87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Cada vez más presente en la sociedad</a:t>
            </a:r>
            <a:endParaRPr sz="2800"/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Gran cantidad de apps derivadas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 sz="2800"/>
              <a:t>Creciente demanda de </a:t>
            </a:r>
            <a:r>
              <a:rPr i="1" lang="es-419" sz="2800"/>
              <a:t>Computer Vision Engineers</a:t>
            </a:r>
            <a:endParaRPr i="1" sz="2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36" name="Google Shape;336;p37"/>
          <p:cNvSpPr txBox="1"/>
          <p:nvPr>
            <p:ph type="title"/>
          </p:nvPr>
        </p:nvSpPr>
        <p:spPr>
          <a:xfrm>
            <a:off x="311700" y="445025"/>
            <a:ext cx="87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estudiar Visión por Computadora?</a:t>
            </a:r>
            <a:endParaRPr/>
          </a:p>
        </p:txBody>
      </p:sp>
      <p:pic>
        <p:nvPicPr>
          <p:cNvPr id="337" name="Google Shape;3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40343">
            <a:off x="229325" y="3114777"/>
            <a:ext cx="7457901" cy="1576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8" name="Google Shape;33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5271">
            <a:off x="1333025" y="3091600"/>
            <a:ext cx="7516050" cy="15572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9" name="Google Shape;33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3683">
            <a:off x="914200" y="2970301"/>
            <a:ext cx="7456202" cy="143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0" name="Google Shape;34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7234">
            <a:off x="1426975" y="3380925"/>
            <a:ext cx="7469955" cy="14537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1" name="Google Shape;341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050" y="3065594"/>
            <a:ext cx="7516049" cy="167513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Detalles del curso</a:t>
            </a:r>
            <a:endParaRPr/>
          </a:p>
        </p:txBody>
      </p:sp>
      <p:sp>
        <p:nvSpPr>
          <p:cNvPr id="347" name="Google Shape;347;p38"/>
          <p:cNvSpPr txBox="1"/>
          <p:nvPr>
            <p:ph idx="1" type="body"/>
          </p:nvPr>
        </p:nvSpPr>
        <p:spPr>
          <a:xfrm>
            <a:off x="311700" y="1152475"/>
            <a:ext cx="85206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/>
              <a:t>Contenido</a:t>
            </a:r>
            <a:endParaRPr b="1" sz="30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8735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AutoNum type="arabicPeriod"/>
            </a:pPr>
            <a:r>
              <a:rPr lang="es-419" sz="2500"/>
              <a:t>Introducción a la Visión por Computadora</a:t>
            </a:r>
            <a:endParaRPr sz="2500"/>
          </a:p>
          <a:p>
            <a:pPr indent="-387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s-419" sz="2500"/>
              <a:t>Introducción a Convolutional Neural Networks (CNN)</a:t>
            </a:r>
            <a:endParaRPr sz="2500"/>
          </a:p>
          <a:p>
            <a:pPr indent="-387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s-419" sz="2500"/>
              <a:t>Entrenamiento de CNN</a:t>
            </a:r>
            <a:endParaRPr sz="2500"/>
          </a:p>
          <a:p>
            <a:pPr indent="-387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s-419" sz="2500"/>
              <a:t>Casos de estudio</a:t>
            </a:r>
            <a:endParaRPr sz="2500"/>
          </a:p>
          <a:p>
            <a:pPr indent="-387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s-419" sz="2500"/>
              <a:t>Detección y Segmentación con CNN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>
            <p:ph idx="1" type="body"/>
          </p:nvPr>
        </p:nvSpPr>
        <p:spPr>
          <a:xfrm>
            <a:off x="311700" y="1152475"/>
            <a:ext cx="85206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16 horas (4 encuentros)</a:t>
            </a:r>
            <a:endParaRPr b="1" sz="2100"/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419" sz="1900"/>
              <a:t>Viernes 17/09 y 24/09, de 18hs a 22hs</a:t>
            </a:r>
            <a:endParaRPr sz="1900"/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419" sz="1900"/>
              <a:t>Sábados 18/09 y 25/09, de 10hs a 14hs</a:t>
            </a:r>
            <a:endParaRPr sz="19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Práctica</a:t>
            </a:r>
            <a:endParaRPr b="1"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419" sz="1900"/>
              <a:t>Labs Colab+Python (Numpy, OpenCV, TensorFlow, etc.)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419" sz="1900"/>
              <a:t>TP1: intro a ANN y CNN (2 labs + 1 opcional)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419" sz="1900"/>
              <a:t>TP2: detección y segmentación con CNN (1 labs + 1 opcional)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419" sz="1900"/>
              <a:t>Grupos de 3 personas máx (registro en planilla)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s-419" sz="1900"/>
              <a:t>Trabajo en clase!</a:t>
            </a:r>
            <a:endParaRPr b="1" sz="1900"/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Evaluación</a:t>
            </a:r>
            <a:endParaRPr b="1" sz="2100"/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419" sz="1900"/>
              <a:t>Lab 1, 2 (créditos parciales) y 4 (créditos totales)</a:t>
            </a:r>
            <a:endParaRPr sz="2900"/>
          </a:p>
        </p:txBody>
      </p:sp>
      <p:sp>
        <p:nvSpPr>
          <p:cNvPr id="353" name="Google Shape;35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Detalles del curso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/>
          <p:nvPr>
            <p:ph idx="1" type="body"/>
          </p:nvPr>
        </p:nvSpPr>
        <p:spPr>
          <a:xfrm>
            <a:off x="311700" y="1152475"/>
            <a:ext cx="85206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700"/>
              <a:t>Bibliografía</a:t>
            </a:r>
            <a:endParaRPr b="1" sz="2700"/>
          </a:p>
          <a:p>
            <a:pPr indent="-3492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Szeliski, R. (2021). </a:t>
            </a:r>
            <a:r>
              <a:rPr i="1" lang="es-419" sz="1900"/>
              <a:t>Computer Vision: Algorithms and Applications</a:t>
            </a:r>
            <a:r>
              <a:rPr lang="es-419" sz="1900"/>
              <a:t>. 2nd Edition (disponible versión draft en </a:t>
            </a:r>
            <a:r>
              <a:rPr lang="es-419" sz="1900" u="sng">
                <a:solidFill>
                  <a:schemeClr val="hlink"/>
                </a:solidFill>
                <a:hlinkClick r:id="rId3"/>
              </a:rPr>
              <a:t>https://szeliski.org/Book/</a:t>
            </a:r>
            <a:r>
              <a:rPr lang="es-419" sz="1900"/>
              <a:t>)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Zhang, A., Lipton, Z. C., Li, M., &amp; Smola, A. J. (2021). </a:t>
            </a:r>
            <a:r>
              <a:rPr i="1" lang="es-419" sz="1900"/>
              <a:t>Dive into deep learning</a:t>
            </a:r>
            <a:r>
              <a:rPr lang="es-419" sz="1900"/>
              <a:t> (disponible en </a:t>
            </a:r>
            <a:r>
              <a:rPr lang="es-419" sz="1900" u="sng">
                <a:solidFill>
                  <a:schemeClr val="hlink"/>
                </a:solidFill>
                <a:hlinkClick r:id="rId4"/>
              </a:rPr>
              <a:t>https://d2l.ai/</a:t>
            </a:r>
            <a:r>
              <a:rPr lang="es-419" sz="1900"/>
              <a:t>)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Khan, S., Rahmani, H., Shah, S., &amp; Bennamoun, M. (2018). </a:t>
            </a:r>
            <a:r>
              <a:rPr i="1" lang="es-419" sz="1900"/>
              <a:t>A guide to convolutional neural networks for computer vision</a:t>
            </a:r>
            <a:r>
              <a:rPr lang="es-419" sz="1900"/>
              <a:t>. Synthesis Lectures on Computer Vision.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sz="1900"/>
              <a:t>Goodfellow, I., Bengio, Y., &amp; Courville, A. (2016). </a:t>
            </a:r>
            <a:r>
              <a:rPr i="1" lang="es-419" sz="1900"/>
              <a:t>Deep Learning</a:t>
            </a:r>
            <a:r>
              <a:rPr lang="es-419" sz="1900"/>
              <a:t>. MITPress (disponible en </a:t>
            </a:r>
            <a:r>
              <a:rPr lang="es-419" sz="1900" u="sng">
                <a:solidFill>
                  <a:schemeClr val="hlink"/>
                </a:solidFill>
                <a:hlinkClick r:id="rId5"/>
              </a:rPr>
              <a:t>http://www.deeplearningbook.org</a:t>
            </a:r>
            <a:r>
              <a:rPr lang="es-419" sz="1900"/>
              <a:t>).</a:t>
            </a:r>
            <a:endParaRPr sz="1900"/>
          </a:p>
        </p:txBody>
      </p:sp>
      <p:sp>
        <p:nvSpPr>
          <p:cNvPr id="359" name="Google Shape;35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Detalles del curso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"/>
          <p:cNvSpPr txBox="1"/>
          <p:nvPr>
            <p:ph idx="1" type="body"/>
          </p:nvPr>
        </p:nvSpPr>
        <p:spPr>
          <a:xfrm>
            <a:off x="311700" y="384025"/>
            <a:ext cx="8520600" cy="46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800"/>
              <a:t>Consultas?</a:t>
            </a:r>
            <a:endParaRPr b="1" sz="4800"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3000"/>
              <a:t>E-mail</a:t>
            </a:r>
            <a:r>
              <a:rPr lang="es-419" sz="3000"/>
              <a:t>: chebaperez@gmail.com</a:t>
            </a:r>
            <a:endParaRPr sz="3000"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-419" sz="3000"/>
              <a:t>Slack</a:t>
            </a:r>
            <a:r>
              <a:rPr lang="es-419" sz="3000"/>
              <a:t>: #﻿vision-por-computadora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